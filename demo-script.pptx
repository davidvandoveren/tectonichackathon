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(scène 1, 20 s):
KBC's Kate herkent vandaag meer dan 140 situaties, en die zijn allemaal met de hand geschreven. Hier zie je twee klanten in dezelfde app, met een totaal andere Kate. Niemand heeft dit voor hen geschreven. Kate leidt het af uit wat ze zelf met hun geld doen.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(scène 2, 25 s):
Wie veel herkent, kan ook veel spammen. Daarom beslist Kate niet alleen wát ze zegt, maar ook wanneer ze moet zwijgen. Zolang je buffer krap is, houdt ze een aanbod dat geld kost achter. Een voorstel dat je geld bespaart, houdt ze nooit achter.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(scène 3, 25 s):
We spoelen veertig dagen vooruit. Komt Jans loon binnen, dan zwijgt Kate. Blijft het uit, dan stuurt ze geen kaartje in de app, maar een sms: het kanaal dat past bij de ernst. Dat gebeurt hoogstens één keer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(scène 4, 20 s):
Sofie spaart al, maar ze doet het elke maand met de hand. Kate zet dat om in een vaste opdracht, met haar eigen cijfers. Ze ziet ook dat Sofie betaalt voor een reispakket zonder te reizen, en zegt het haar. Eén tik, en de klant beslist zelf.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(scène 4b, 15 s):
We raken niets aan in de code. Sofie haalt geld van haar spaarrekening. Kate ziet dat ze dat geld nu nodig heeft, en stelt niet langer voor om het vast te zetten.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(scène 5, 15 s):
Eén zin in plaats van vijf schermen. Kate vult alles in, maar betaalt zelf nooit aan iemand anders. De klant bevestigt op het gewone, gevalideerde scherm.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(scène 6, 25 s):
Er is een moment waarop een bank níét moet verkopen. De uitkering van een erfenis lijkt op geld dat klaarstaat om belegd te worden. Kate herkent wat het echt is, begeleidt Els en geeft haar door aan een mens, met de volledige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(scène 7, 20 s):
Dit is dezelfde motor, gedraaid over tienduizend klanten die niemand met de hand heeft gemaakt. Bijna de helft kreeg bewust niets, en dat is precies de bedoeling. Voor alle klanten van KBC is het ongeveer een uur rekenwerk op één processor, zonder taalmodel. Het dure AI-deel draait alleen als iemand met Kate praat.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(slot, 10 s):
Elke suggestie zegt waarom. Jij kiest wat Kate mag weten en wat ze mag doen. Kate 2.0: de juiste boodschap, op het juiste moment, via het juiste kanaal, of bewust helemaal niets.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3F"/>
        </a:solidFill>
      </p:bgPr>
    </p:bg>
    <p:spTree>
      <p:nvGrpSpPr>
        <p:cNvPr id="1" name=""/>
        <p:cNvGrpSpPr/>
        <p:nvPr/>
      </p:nvGrpSpPr>
      <p:grpSpPr>
        <a:xfrm>
          <a:off x="0" y="0"/>
          <a:ext cx="0" cy="0"/>
          <a:chOff x="0" y="0"/>
          <a:chExt cx="0" cy="0"/>
        </a:xfrm>
      </p:grpSpPr>
      <p:sp>
        <p:nvSpPr>
          <p:cNvPr id="2" name="Text 0"/>
          <p:cNvSpPr txBox="1"/>
          <p:nvPr/>
        </p:nvSpPr>
        <p:spPr>
          <a:xfrm>
            <a:off x="731520" y="1188720"/>
            <a:ext cx="10058400" cy="365760"/>
          </a:xfrm>
          <a:prstGeom prst="rect">
            <a:avLst/>
          </a:prstGeom>
          <a:noFill/>
          <a:ln/>
        </p:spPr>
        <p:txBody>
          <a:bodyPr wrap="square" lIns="0" tIns="0" rIns="0" bIns="0" rtlCol="0" anchor="t"/>
          <a:lstStyle/>
          <a:p>
            <a:pPr indent="0" marL="0">
              <a:buNone/>
            </a:pPr>
            <a:r>
              <a:rPr lang="en-US" sz="1600" b="1" spc="400" kern="0" dirty="0">
                <a:solidFill>
                  <a:srgbClr val="0E9F8E"/>
                </a:solidFill>
                <a:latin typeface="Calibri" pitchFamily="34" charset="0"/>
                <a:ea typeface="Calibri" pitchFamily="34" charset="-122"/>
                <a:cs typeface="Calibri" pitchFamily="34" charset="-120"/>
              </a:rPr>
              <a:t>DEMOVIDEO · STORYBOARD</a:t>
            </a:r>
            <a:endParaRPr lang="en-US" sz="1600" dirty="0"/>
          </a:p>
        </p:txBody>
      </p:sp>
      <p:sp>
        <p:nvSpPr>
          <p:cNvPr id="3" name="Text 1"/>
          <p:cNvSpPr txBox="1"/>
          <p:nvPr/>
        </p:nvSpPr>
        <p:spPr>
          <a:xfrm>
            <a:off x="731520" y="1645920"/>
            <a:ext cx="10058400" cy="1188720"/>
          </a:xfrm>
          <a:prstGeom prst="rect">
            <a:avLst/>
          </a:prstGeom>
          <a:noFill/>
          <a:ln/>
        </p:spPr>
        <p:txBody>
          <a:bodyPr wrap="square" lIns="0" tIns="0" rIns="0" bIns="0" rtlCol="0" anchor="t"/>
          <a:lstStyle/>
          <a:p>
            <a:pPr indent="0" marL="0">
              <a:buNone/>
            </a:pPr>
            <a:r>
              <a:rPr lang="en-US" sz="7200" b="1" dirty="0">
                <a:solidFill>
                  <a:srgbClr val="FFFFFF"/>
                </a:solidFill>
                <a:latin typeface="Cambria" pitchFamily="34" charset="0"/>
                <a:ea typeface="Cambria" pitchFamily="34" charset="-122"/>
                <a:cs typeface="Cambria" pitchFamily="34" charset="-120"/>
              </a:rPr>
              <a:t>Kate 2.0</a:t>
            </a:r>
            <a:endParaRPr lang="en-US" sz="7200" dirty="0"/>
          </a:p>
        </p:txBody>
      </p:sp>
      <p:sp>
        <p:nvSpPr>
          <p:cNvPr id="4" name="Text 2"/>
          <p:cNvSpPr txBox="1"/>
          <p:nvPr/>
        </p:nvSpPr>
        <p:spPr>
          <a:xfrm>
            <a:off x="731520" y="2926080"/>
            <a:ext cx="9601200" cy="822960"/>
          </a:xfrm>
          <a:prstGeom prst="rect">
            <a:avLst/>
          </a:prstGeom>
          <a:noFill/>
          <a:ln/>
        </p:spPr>
        <p:txBody>
          <a:bodyPr wrap="square" lIns="0" tIns="0" rIns="0" bIns="0" rtlCol="0" anchor="t"/>
          <a:lstStyle/>
          <a:p>
            <a:pPr indent="0" marL="0">
              <a:buNone/>
            </a:pPr>
            <a:r>
              <a:rPr lang="en-US" sz="2200" i="1" dirty="0">
                <a:solidFill>
                  <a:srgbClr val="CFE3F0"/>
                </a:solidFill>
                <a:latin typeface="Calibri" pitchFamily="34" charset="0"/>
                <a:ea typeface="Calibri" pitchFamily="34" charset="-122"/>
                <a:cs typeface="Calibri" pitchFamily="34" charset="-120"/>
              </a:rPr>
              <a:t>Kate toont niets op basis van wie iemand is, alleen op basis van wat die klant doet.</a:t>
            </a:r>
            <a:endParaRPr lang="en-US" sz="2200" dirty="0"/>
          </a:p>
        </p:txBody>
      </p:sp>
      <p:sp>
        <p:nvSpPr>
          <p:cNvPr id="5" name="Text 3"/>
          <p:cNvSpPr txBox="1"/>
          <p:nvPr/>
        </p:nvSpPr>
        <p:spPr>
          <a:xfrm>
            <a:off x="731520" y="4297680"/>
            <a:ext cx="2468880" cy="73152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&lt; 3 min</a:t>
            </a:r>
            <a:endParaRPr lang="en-US" sz="4000" dirty="0"/>
          </a:p>
        </p:txBody>
      </p:sp>
      <p:sp>
        <p:nvSpPr>
          <p:cNvPr id="6" name="Text 4"/>
          <p:cNvSpPr txBox="1"/>
          <p:nvPr/>
        </p:nvSpPr>
        <p:spPr>
          <a:xfrm>
            <a:off x="731520" y="5029200"/>
            <a:ext cx="2468880" cy="365760"/>
          </a:xfrm>
          <a:prstGeom prst="rect">
            <a:avLst/>
          </a:prstGeom>
          <a:noFill/>
          <a:ln/>
        </p:spPr>
        <p:txBody>
          <a:bodyPr wrap="square" lIns="0" tIns="0" rIns="0" bIns="0" rtlCol="0" anchor="t"/>
          <a:lstStyle/>
          <a:p>
            <a:pPr indent="0" marL="0">
              <a:buNone/>
            </a:pPr>
            <a:r>
              <a:rPr lang="en-US" sz="1500" dirty="0">
                <a:solidFill>
                  <a:srgbClr val="CFE3F0"/>
                </a:solidFill>
                <a:latin typeface="Calibri" pitchFamily="34" charset="0"/>
                <a:ea typeface="Calibri" pitchFamily="34" charset="-122"/>
                <a:cs typeface="Calibri" pitchFamily="34" charset="-120"/>
              </a:rPr>
              <a:t>videoduur</a:t>
            </a:r>
            <a:endParaRPr lang="en-US" sz="1500" dirty="0"/>
          </a:p>
        </p:txBody>
      </p:sp>
      <p:sp>
        <p:nvSpPr>
          <p:cNvPr id="7" name="Text 5"/>
          <p:cNvSpPr txBox="1"/>
          <p:nvPr/>
        </p:nvSpPr>
        <p:spPr>
          <a:xfrm>
            <a:off x="3383280" y="4297680"/>
            <a:ext cx="2468880" cy="73152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8</a:t>
            </a:r>
            <a:endParaRPr lang="en-US" sz="4000" dirty="0"/>
          </a:p>
        </p:txBody>
      </p:sp>
      <p:sp>
        <p:nvSpPr>
          <p:cNvPr id="8" name="Text 6"/>
          <p:cNvSpPr txBox="1"/>
          <p:nvPr/>
        </p:nvSpPr>
        <p:spPr>
          <a:xfrm>
            <a:off x="3383280" y="5029200"/>
            <a:ext cx="2468880" cy="365760"/>
          </a:xfrm>
          <a:prstGeom prst="rect">
            <a:avLst/>
          </a:prstGeom>
          <a:noFill/>
          <a:ln/>
        </p:spPr>
        <p:txBody>
          <a:bodyPr wrap="square" lIns="0" tIns="0" rIns="0" bIns="0" rtlCol="0" anchor="t"/>
          <a:lstStyle/>
          <a:p>
            <a:pPr indent="0" marL="0">
              <a:buNone/>
            </a:pPr>
            <a:r>
              <a:rPr lang="en-US" sz="1500" dirty="0">
                <a:solidFill>
                  <a:srgbClr val="CFE3F0"/>
                </a:solidFill>
                <a:latin typeface="Calibri" pitchFamily="34" charset="0"/>
                <a:ea typeface="Calibri" pitchFamily="34" charset="-122"/>
                <a:cs typeface="Calibri" pitchFamily="34" charset="-120"/>
              </a:rPr>
              <a:t>scènes + slot</a:t>
            </a:r>
            <a:endParaRPr lang="en-US" sz="1500" dirty="0"/>
          </a:p>
        </p:txBody>
      </p:sp>
      <p:sp>
        <p:nvSpPr>
          <p:cNvPr id="9" name="Text 7"/>
          <p:cNvSpPr txBox="1"/>
          <p:nvPr/>
        </p:nvSpPr>
        <p:spPr>
          <a:xfrm>
            <a:off x="6035040" y="4297680"/>
            <a:ext cx="2468880" cy="73152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 175 s</a:t>
            </a:r>
            <a:endParaRPr lang="en-US" sz="4000" dirty="0"/>
          </a:p>
        </p:txBody>
      </p:sp>
      <p:sp>
        <p:nvSpPr>
          <p:cNvPr id="10" name="Text 8"/>
          <p:cNvSpPr txBox="1"/>
          <p:nvPr/>
        </p:nvSpPr>
        <p:spPr>
          <a:xfrm>
            <a:off x="6035040" y="5029200"/>
            <a:ext cx="2468880" cy="365760"/>
          </a:xfrm>
          <a:prstGeom prst="rect">
            <a:avLst/>
          </a:prstGeom>
          <a:noFill/>
          <a:ln/>
        </p:spPr>
        <p:txBody>
          <a:bodyPr wrap="square" lIns="0" tIns="0" rIns="0" bIns="0" rtlCol="0" anchor="t"/>
          <a:lstStyle/>
          <a:p>
            <a:pPr indent="0" marL="0">
              <a:buNone/>
            </a:pPr>
            <a:r>
              <a:rPr lang="en-US" sz="1500" dirty="0">
                <a:solidFill>
                  <a:srgbClr val="CFE3F0"/>
                </a:solidFill>
                <a:latin typeface="Calibri" pitchFamily="34" charset="0"/>
                <a:ea typeface="Calibri" pitchFamily="34" charset="-122"/>
                <a:cs typeface="Calibri" pitchFamily="34" charset="-120"/>
              </a:rPr>
              <a:t>gepland</a:t>
            </a:r>
            <a:endParaRPr lang="en-US" sz="1500" dirty="0"/>
          </a:p>
        </p:txBody>
      </p:sp>
      <p:sp>
        <p:nvSpPr>
          <p:cNvPr id="11" name="Text 9"/>
          <p:cNvSpPr txBox="1"/>
          <p:nvPr/>
        </p:nvSpPr>
        <p:spPr>
          <a:xfrm>
            <a:off x="8686800" y="4297680"/>
            <a:ext cx="2468880" cy="73152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6</a:t>
            </a:r>
            <a:endParaRPr lang="en-US" sz="4000" dirty="0"/>
          </a:p>
        </p:txBody>
      </p:sp>
      <p:sp>
        <p:nvSpPr>
          <p:cNvPr id="12" name="Text 10"/>
          <p:cNvSpPr txBox="1"/>
          <p:nvPr/>
        </p:nvSpPr>
        <p:spPr>
          <a:xfrm>
            <a:off x="8686800" y="5029200"/>
            <a:ext cx="2468880" cy="365760"/>
          </a:xfrm>
          <a:prstGeom prst="rect">
            <a:avLst/>
          </a:prstGeom>
          <a:noFill/>
          <a:ln/>
        </p:spPr>
        <p:txBody>
          <a:bodyPr wrap="square" lIns="0" tIns="0" rIns="0" bIns="0" rtlCol="0" anchor="t"/>
          <a:lstStyle/>
          <a:p>
            <a:pPr indent="0" marL="0">
              <a:buNone/>
            </a:pPr>
            <a:r>
              <a:rPr lang="en-US" sz="1500" dirty="0">
                <a:solidFill>
                  <a:srgbClr val="CFE3F0"/>
                </a:solidFill>
                <a:latin typeface="Calibri" pitchFamily="34" charset="0"/>
                <a:ea typeface="Calibri" pitchFamily="34" charset="-122"/>
                <a:cs typeface="Calibri" pitchFamily="34" charset="-120"/>
              </a:rPr>
              <a:t>bewijzen (A–F)</a:t>
            </a:r>
            <a:endParaRPr lang="en-US" sz="1500" dirty="0"/>
          </a:p>
        </p:txBody>
      </p:sp>
      <p:sp>
        <p:nvSpPr>
          <p:cNvPr id="13" name="Text 11"/>
          <p:cNvSpPr txBox="1"/>
          <p:nvPr/>
        </p:nvSpPr>
        <p:spPr>
          <a:xfrm>
            <a:off x="731520" y="6126480"/>
            <a:ext cx="10515600" cy="320040"/>
          </a:xfrm>
          <a:prstGeom prst="rect">
            <a:avLst/>
          </a:prstGeom>
          <a:noFill/>
          <a:ln/>
        </p:spPr>
        <p:txBody>
          <a:bodyPr wrap="square" lIns="0" tIns="0" rIns="0" bIns="0" rtlCol="0" anchor="t"/>
          <a:lstStyle/>
          <a:p>
            <a:pPr indent="0" marL="0">
              <a:buNone/>
            </a:pPr>
            <a:r>
              <a:rPr lang="en-US" sz="1200" dirty="0">
                <a:solidFill>
                  <a:srgbClr val="8FA6BD"/>
                </a:solidFill>
                <a:latin typeface="Calibri" pitchFamily="34" charset="0"/>
                <a:ea typeface="Calibri" pitchFamily="34" charset="-122"/>
                <a:cs typeface="Calibri" pitchFamily="34" charset="-120"/>
              </a:rPr>
              <a:t>Eigenaar: Alexandre (#42) · Bron: docs/demo-script.md op main (na #75 en #76, 30/09/2026)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t"/>
          <a:lstStyle/>
          <a:p>
            <a:pPr indent="0" marL="0">
              <a:buNone/>
            </a:pPr>
            <a:r>
              <a:rPr lang="en-US" sz="3400" b="1" dirty="0">
                <a:solidFill>
                  <a:srgbClr val="10263F"/>
                </a:solidFill>
                <a:latin typeface="Cambria" pitchFamily="34" charset="0"/>
                <a:ea typeface="Cambria" pitchFamily="34" charset="-122"/>
                <a:cs typeface="Cambria" pitchFamily="34" charset="-120"/>
              </a:rPr>
              <a:t>De rode draad voor de jury</a:t>
            </a:r>
            <a:endParaRPr lang="en-US" sz="3400" dirty="0"/>
          </a:p>
        </p:txBody>
      </p:sp>
      <p:sp>
        <p:nvSpPr>
          <p:cNvPr id="3" name="Shape 1"/>
          <p:cNvSpPr/>
          <p:nvPr/>
        </p:nvSpPr>
        <p:spPr>
          <a:xfrm>
            <a:off x="548640" y="1325880"/>
            <a:ext cx="11064240" cy="1097280"/>
          </a:xfrm>
          <a:prstGeom prst="roundRect">
            <a:avLst>
              <a:gd name="adj" fmla="val 10000"/>
            </a:avLst>
          </a:prstGeom>
          <a:solidFill>
            <a:srgbClr val="10263F"/>
          </a:solidFill>
          <a:ln w="12700">
            <a:solidFill>
              <a:srgbClr val="10263F"/>
            </a:solidFill>
            <a:prstDash val="solid"/>
          </a:ln>
        </p:spPr>
      </p:sp>
      <p:sp>
        <p:nvSpPr>
          <p:cNvPr id="4" name="Text 2"/>
          <p:cNvSpPr txBox="1"/>
          <p:nvPr/>
        </p:nvSpPr>
        <p:spPr>
          <a:xfrm>
            <a:off x="868680" y="1417320"/>
            <a:ext cx="10424160" cy="914400"/>
          </a:xfrm>
          <a:prstGeom prst="rect">
            <a:avLst/>
          </a:prstGeom>
          <a:noFill/>
          <a:ln/>
        </p:spPr>
        <p:txBody>
          <a:bodyPr wrap="square" lIns="0" tIns="0" rIns="0" bIns="0" rtlCol="0" anchor="ctr"/>
          <a:lstStyle/>
          <a:p>
            <a:pPr indent="0" marL="0">
              <a:buNone/>
            </a:pPr>
            <a:r>
              <a:rPr lang="en-US" sz="2100" i="1" dirty="0">
                <a:solidFill>
                  <a:srgbClr val="FFFFFF"/>
                </a:solidFill>
                <a:latin typeface="Cambria" pitchFamily="34" charset="0"/>
                <a:ea typeface="Cambria" pitchFamily="34" charset="-122"/>
                <a:cs typeface="Cambria" pitchFamily="34" charset="-120"/>
              </a:rPr>
              <a:t>Kate toont niets op basis van wie iemand is, alleen op basis van wat die klant doet. Elke scène laat dat zien.</a:t>
            </a:r>
            <a:endParaRPr lang="en-US" sz="2100" dirty="0"/>
          </a:p>
        </p:txBody>
      </p:sp>
      <p:sp>
        <p:nvSpPr>
          <p:cNvPr id="5" name="Shape 3"/>
          <p:cNvSpPr/>
          <p:nvPr/>
        </p:nvSpPr>
        <p:spPr>
          <a:xfrm>
            <a:off x="548640" y="2697480"/>
            <a:ext cx="6675120" cy="3520440"/>
          </a:xfrm>
          <a:prstGeom prst="roundRect">
            <a:avLst>
              <a:gd name="adj" fmla="val 3117"/>
            </a:avLst>
          </a:prstGeom>
          <a:solidFill>
            <a:srgbClr val="E3F4F2"/>
          </a:solidFill>
          <a:ln w="12700">
            <a:solidFill>
              <a:srgbClr val="E3F4F2"/>
            </a:solidFill>
            <a:prstDash val="solid"/>
          </a:ln>
        </p:spPr>
      </p:sp>
      <p:sp>
        <p:nvSpPr>
          <p:cNvPr id="6" name="Text 4"/>
          <p:cNvSpPr txBox="1"/>
          <p:nvPr/>
        </p:nvSpPr>
        <p:spPr>
          <a:xfrm>
            <a:off x="822960" y="2880360"/>
            <a:ext cx="6217920"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ZIN VOOR DE VOICE-OVER · OVERAL BRUIKBAAR</a:t>
            </a:r>
            <a:endParaRPr lang="en-US" sz="1100" dirty="0"/>
          </a:p>
        </p:txBody>
      </p:sp>
      <p:sp>
        <p:nvSpPr>
          <p:cNvPr id="7" name="Text 5"/>
          <p:cNvSpPr txBox="1"/>
          <p:nvPr/>
        </p:nvSpPr>
        <p:spPr>
          <a:xfrm>
            <a:off x="822960" y="3291840"/>
            <a:ext cx="6126480" cy="2651760"/>
          </a:xfrm>
          <a:prstGeom prst="rect">
            <a:avLst/>
          </a:prstGeom>
          <a:noFill/>
          <a:ln/>
        </p:spPr>
        <p:txBody>
          <a:bodyPr wrap="square" lIns="0" tIns="0" rIns="0" bIns="0" rtlCol="0" anchor="t"/>
          <a:lstStyle/>
          <a:p>
            <a:pPr indent="0" marL="0">
              <a:buNone/>
            </a:pPr>
            <a:r>
              <a:rPr lang="en-US" sz="2200" i="1" dirty="0">
                <a:solidFill>
                  <a:srgbClr val="10263F"/>
                </a:solidFill>
                <a:latin typeface="Cambria" pitchFamily="34" charset="0"/>
                <a:ea typeface="Cambria" pitchFamily="34" charset="-122"/>
                <a:cs typeface="Cambria" pitchFamily="34" charset="-120"/>
              </a:rPr>
              <a:t>“Niemand heeft deze kaart voor deze klant geschreven. Kate leidt ze af uit wat de klant zelf doet. Verandert dat gedrag, dan verandert Kate mee.”</a:t>
            </a:r>
            <a:endParaRPr lang="en-US" sz="2200" dirty="0"/>
          </a:p>
        </p:txBody>
      </p:sp>
      <p:sp>
        <p:nvSpPr>
          <p:cNvPr id="8" name="Shape 6"/>
          <p:cNvSpPr/>
          <p:nvPr/>
        </p:nvSpPr>
        <p:spPr>
          <a:xfrm>
            <a:off x="7406640" y="2697480"/>
            <a:ext cx="4206240" cy="3520440"/>
          </a:xfrm>
          <a:prstGeom prst="roundRect">
            <a:avLst>
              <a:gd name="adj" fmla="val 3117"/>
            </a:avLst>
          </a:prstGeom>
          <a:solidFill>
            <a:srgbClr val="FDECE9"/>
          </a:solidFill>
          <a:ln w="12700">
            <a:solidFill>
              <a:srgbClr val="FDECE9"/>
            </a:solidFill>
            <a:prstDash val="solid"/>
          </a:ln>
        </p:spPr>
      </p:sp>
      <p:sp>
        <p:nvSpPr>
          <p:cNvPr id="9" name="Text 7"/>
          <p:cNvSpPr txBox="1"/>
          <p:nvPr/>
        </p:nvSpPr>
        <p:spPr>
          <a:xfrm>
            <a:off x="7680960" y="2880360"/>
            <a:ext cx="3749040" cy="274320"/>
          </a:xfrm>
          <a:prstGeom prst="rect">
            <a:avLst/>
          </a:prstGeom>
          <a:noFill/>
          <a:ln/>
        </p:spPr>
        <p:txBody>
          <a:bodyPr wrap="square" lIns="0" tIns="0" rIns="0" bIns="0" rtlCol="0" anchor="t"/>
          <a:lstStyle/>
          <a:p>
            <a:pPr indent="0" marL="0">
              <a:buNone/>
            </a:pPr>
            <a:r>
              <a:rPr lang="en-US" sz="1100" b="1" spc="200" kern="0" dirty="0">
                <a:solidFill>
                  <a:srgbClr val="B23A28"/>
                </a:solidFill>
                <a:latin typeface="Calibri" pitchFamily="34" charset="0"/>
                <a:ea typeface="Calibri" pitchFamily="34" charset="-122"/>
                <a:cs typeface="Calibri" pitchFamily="34" charset="-120"/>
              </a:rPr>
              <a:t>WAT JE NÍÉT ZEGT</a:t>
            </a:r>
            <a:endParaRPr lang="en-US" sz="1100" dirty="0"/>
          </a:p>
        </p:txBody>
      </p:sp>
      <p:sp>
        <p:nvSpPr>
          <p:cNvPr id="10" name="Text 8"/>
          <p:cNvSpPr txBox="1"/>
          <p:nvPr/>
        </p:nvSpPr>
        <p:spPr>
          <a:xfrm>
            <a:off x="7680960" y="3291840"/>
            <a:ext cx="3657600" cy="731520"/>
          </a:xfrm>
          <a:prstGeom prst="rect">
            <a:avLst/>
          </a:prstGeom>
          <a:noFill/>
          <a:ln/>
        </p:spPr>
        <p:txBody>
          <a:bodyPr wrap="square" lIns="0" tIns="0" rIns="0" bIns="0" rtlCol="0" anchor="t"/>
          <a:lstStyle/>
          <a:p>
            <a:pPr indent="0" marL="0">
              <a:buNone/>
            </a:pPr>
            <a:r>
              <a:rPr lang="en-US" sz="1600" b="1" dirty="0">
                <a:solidFill>
                  <a:srgbClr val="10263F"/>
                </a:solidFill>
                <a:latin typeface="Calibri" pitchFamily="34" charset="0"/>
                <a:ea typeface="Calibri" pitchFamily="34" charset="-122"/>
                <a:cs typeface="Calibri" pitchFamily="34" charset="-120"/>
              </a:rPr>
              <a:t>Dat Kate iemands leeftijd, beroep of gezinssituatie kent.</a:t>
            </a:r>
            <a:endParaRPr lang="en-US" sz="1600" dirty="0"/>
          </a:p>
        </p:txBody>
      </p:sp>
      <p:sp>
        <p:nvSpPr>
          <p:cNvPr id="11" name="Text 9"/>
          <p:cNvSpPr txBox="1"/>
          <p:nvPr/>
        </p:nvSpPr>
        <p:spPr>
          <a:xfrm>
            <a:off x="7680960" y="4114800"/>
            <a:ext cx="3657600" cy="1920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 engine leest alleen rekeningen en transacties. Gevoelige uitgaven worden eruit gefilterd vóór er iets berekend wordt: gezondheid, religie, politiek, vakbond en dating (#35).</a:t>
            </a:r>
            <a:endParaRPr lang="en-US" sz="1400" dirty="0"/>
          </a:p>
        </p:txBody>
      </p:sp>
      <p:sp>
        <p:nvSpPr>
          <p:cNvPr id="12" name="Text 10"/>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t"/>
          <a:lstStyle/>
          <a:p>
            <a:pPr indent="0" marL="0">
              <a:buNone/>
            </a:pPr>
            <a:r>
              <a:rPr lang="en-US" sz="3400" b="1" dirty="0">
                <a:solidFill>
                  <a:srgbClr val="10263F"/>
                </a:solidFill>
                <a:latin typeface="Cambria" pitchFamily="34" charset="0"/>
                <a:ea typeface="Cambria" pitchFamily="34" charset="-122"/>
                <a:cs typeface="Cambria" pitchFamily="34" charset="-120"/>
              </a:rPr>
              <a:t>Het verhaal in 8 scènes + slot</a:t>
            </a:r>
            <a:endParaRPr lang="en-US" sz="3400" dirty="0"/>
          </a:p>
        </p:txBody>
      </p:sp>
      <p:sp>
        <p:nvSpPr>
          <p:cNvPr id="3"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500" i="1" dirty="0">
                <a:solidFill>
                  <a:srgbClr val="6B7280"/>
                </a:solidFill>
                <a:latin typeface="Calibri" pitchFamily="34" charset="0"/>
                <a:ea typeface="Calibri" pitchFamily="34" charset="-122"/>
                <a:cs typeface="Calibri" pitchFamily="34" charset="-120"/>
              </a:rPr>
              <a:t>± 175 seconden · elke scène apart opnemen en achteraf monteren</a:t>
            </a:r>
            <a:endParaRPr lang="en-US" sz="1500" dirty="0"/>
          </a:p>
        </p:txBody>
      </p:sp>
      <p:sp>
        <p:nvSpPr>
          <p:cNvPr id="4" name="Shape 2"/>
          <p:cNvSpPr/>
          <p:nvPr/>
        </p:nvSpPr>
        <p:spPr>
          <a:xfrm>
            <a:off x="548640" y="1783080"/>
            <a:ext cx="1227909" cy="640080"/>
          </a:xfrm>
          <a:prstGeom prst="rect">
            <a:avLst/>
          </a:prstGeom>
          <a:solidFill>
            <a:srgbClr val="0E9F8E"/>
          </a:solidFill>
          <a:ln w="12700">
            <a:solidFill>
              <a:srgbClr val="0E9F8E"/>
            </a:solidFill>
            <a:prstDash val="solid"/>
          </a:ln>
        </p:spPr>
      </p:sp>
      <p:sp>
        <p:nvSpPr>
          <p:cNvPr id="5" name="Text 3"/>
          <p:cNvSpPr txBox="1"/>
          <p:nvPr/>
        </p:nvSpPr>
        <p:spPr>
          <a:xfrm>
            <a:off x="548640" y="1783080"/>
            <a:ext cx="1227909"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548640"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0s</a:t>
            </a:r>
            <a:endParaRPr lang="en-US" sz="1000" dirty="0"/>
          </a:p>
        </p:txBody>
      </p:sp>
      <p:sp>
        <p:nvSpPr>
          <p:cNvPr id="7" name="Shape 5"/>
          <p:cNvSpPr/>
          <p:nvPr/>
        </p:nvSpPr>
        <p:spPr>
          <a:xfrm>
            <a:off x="1813125" y="1783080"/>
            <a:ext cx="1544030" cy="640080"/>
          </a:xfrm>
          <a:prstGeom prst="rect">
            <a:avLst/>
          </a:prstGeom>
          <a:solidFill>
            <a:srgbClr val="10263F"/>
          </a:solidFill>
          <a:ln w="12700">
            <a:solidFill>
              <a:srgbClr val="10263F"/>
            </a:solidFill>
            <a:prstDash val="solid"/>
          </a:ln>
        </p:spPr>
      </p:sp>
      <p:sp>
        <p:nvSpPr>
          <p:cNvPr id="8" name="Text 6"/>
          <p:cNvSpPr txBox="1"/>
          <p:nvPr/>
        </p:nvSpPr>
        <p:spPr>
          <a:xfrm>
            <a:off x="1813125" y="1783080"/>
            <a:ext cx="154403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813125"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20s</a:t>
            </a:r>
            <a:endParaRPr lang="en-US" sz="1000" dirty="0"/>
          </a:p>
        </p:txBody>
      </p:sp>
      <p:sp>
        <p:nvSpPr>
          <p:cNvPr id="10" name="Shape 8"/>
          <p:cNvSpPr/>
          <p:nvPr/>
        </p:nvSpPr>
        <p:spPr>
          <a:xfrm>
            <a:off x="3393730" y="1783080"/>
            <a:ext cx="1544030" cy="640080"/>
          </a:xfrm>
          <a:prstGeom prst="rect">
            <a:avLst/>
          </a:prstGeom>
          <a:solidFill>
            <a:srgbClr val="0E9F8E"/>
          </a:solidFill>
          <a:ln w="12700">
            <a:solidFill>
              <a:srgbClr val="0E9F8E"/>
            </a:solidFill>
            <a:prstDash val="solid"/>
          </a:ln>
        </p:spPr>
      </p:sp>
      <p:sp>
        <p:nvSpPr>
          <p:cNvPr id="11" name="Text 9"/>
          <p:cNvSpPr txBox="1"/>
          <p:nvPr/>
        </p:nvSpPr>
        <p:spPr>
          <a:xfrm>
            <a:off x="3393730" y="1783080"/>
            <a:ext cx="154403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2" name="Text 10"/>
          <p:cNvSpPr txBox="1"/>
          <p:nvPr/>
        </p:nvSpPr>
        <p:spPr>
          <a:xfrm>
            <a:off x="3393730"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45s</a:t>
            </a:r>
            <a:endParaRPr lang="en-US" sz="1000" dirty="0"/>
          </a:p>
        </p:txBody>
      </p:sp>
      <p:sp>
        <p:nvSpPr>
          <p:cNvPr id="13" name="Shape 11"/>
          <p:cNvSpPr/>
          <p:nvPr/>
        </p:nvSpPr>
        <p:spPr>
          <a:xfrm>
            <a:off x="4974336" y="1783080"/>
            <a:ext cx="1227909" cy="640080"/>
          </a:xfrm>
          <a:prstGeom prst="rect">
            <a:avLst/>
          </a:prstGeom>
          <a:solidFill>
            <a:srgbClr val="10263F"/>
          </a:solidFill>
          <a:ln w="12700">
            <a:solidFill>
              <a:srgbClr val="10263F"/>
            </a:solidFill>
            <a:prstDash val="solid"/>
          </a:ln>
        </p:spPr>
      </p:sp>
      <p:sp>
        <p:nvSpPr>
          <p:cNvPr id="14" name="Text 12"/>
          <p:cNvSpPr txBox="1"/>
          <p:nvPr/>
        </p:nvSpPr>
        <p:spPr>
          <a:xfrm>
            <a:off x="4974336" y="1783080"/>
            <a:ext cx="1227909"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5" name="Text 13"/>
          <p:cNvSpPr txBox="1"/>
          <p:nvPr/>
        </p:nvSpPr>
        <p:spPr>
          <a:xfrm>
            <a:off x="4974336"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70s</a:t>
            </a:r>
            <a:endParaRPr lang="en-US" sz="1000" dirty="0"/>
          </a:p>
        </p:txBody>
      </p:sp>
      <p:sp>
        <p:nvSpPr>
          <p:cNvPr id="16" name="Shape 14"/>
          <p:cNvSpPr/>
          <p:nvPr/>
        </p:nvSpPr>
        <p:spPr>
          <a:xfrm>
            <a:off x="6238821" y="1783080"/>
            <a:ext cx="911787" cy="640080"/>
          </a:xfrm>
          <a:prstGeom prst="rect">
            <a:avLst/>
          </a:prstGeom>
          <a:solidFill>
            <a:srgbClr val="E8604C"/>
          </a:solidFill>
          <a:ln w="12700">
            <a:solidFill>
              <a:srgbClr val="E8604C"/>
            </a:solidFill>
            <a:prstDash val="solid"/>
          </a:ln>
        </p:spPr>
      </p:sp>
      <p:sp>
        <p:nvSpPr>
          <p:cNvPr id="17" name="Text 15"/>
          <p:cNvSpPr txBox="1"/>
          <p:nvPr/>
        </p:nvSpPr>
        <p:spPr>
          <a:xfrm>
            <a:off x="6238821" y="1783080"/>
            <a:ext cx="911787"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4b</a:t>
            </a:r>
            <a:endParaRPr lang="en-US" sz="2000" dirty="0"/>
          </a:p>
        </p:txBody>
      </p:sp>
      <p:sp>
        <p:nvSpPr>
          <p:cNvPr id="18" name="Text 16"/>
          <p:cNvSpPr txBox="1"/>
          <p:nvPr/>
        </p:nvSpPr>
        <p:spPr>
          <a:xfrm>
            <a:off x="6238821"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90s</a:t>
            </a:r>
            <a:endParaRPr lang="en-US" sz="1000" dirty="0"/>
          </a:p>
        </p:txBody>
      </p:sp>
      <p:sp>
        <p:nvSpPr>
          <p:cNvPr id="19" name="Shape 17"/>
          <p:cNvSpPr/>
          <p:nvPr/>
        </p:nvSpPr>
        <p:spPr>
          <a:xfrm>
            <a:off x="7187184" y="1783080"/>
            <a:ext cx="911787" cy="640080"/>
          </a:xfrm>
          <a:prstGeom prst="rect">
            <a:avLst/>
          </a:prstGeom>
          <a:solidFill>
            <a:srgbClr val="10263F"/>
          </a:solidFill>
          <a:ln w="12700">
            <a:solidFill>
              <a:srgbClr val="10263F"/>
            </a:solidFill>
            <a:prstDash val="solid"/>
          </a:ln>
        </p:spPr>
      </p:sp>
      <p:sp>
        <p:nvSpPr>
          <p:cNvPr id="20" name="Text 18"/>
          <p:cNvSpPr txBox="1"/>
          <p:nvPr/>
        </p:nvSpPr>
        <p:spPr>
          <a:xfrm>
            <a:off x="7187184" y="1783080"/>
            <a:ext cx="911787"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1" name="Text 19"/>
          <p:cNvSpPr txBox="1"/>
          <p:nvPr/>
        </p:nvSpPr>
        <p:spPr>
          <a:xfrm>
            <a:off x="7187184"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105s</a:t>
            </a:r>
            <a:endParaRPr lang="en-US" sz="1000" dirty="0"/>
          </a:p>
        </p:txBody>
      </p:sp>
      <p:sp>
        <p:nvSpPr>
          <p:cNvPr id="22" name="Shape 20"/>
          <p:cNvSpPr/>
          <p:nvPr/>
        </p:nvSpPr>
        <p:spPr>
          <a:xfrm>
            <a:off x="8135547" y="1783080"/>
            <a:ext cx="1544030" cy="640080"/>
          </a:xfrm>
          <a:prstGeom prst="rect">
            <a:avLst/>
          </a:prstGeom>
          <a:solidFill>
            <a:srgbClr val="0E9F8E"/>
          </a:solidFill>
          <a:ln w="12700">
            <a:solidFill>
              <a:srgbClr val="0E9F8E"/>
            </a:solidFill>
            <a:prstDash val="solid"/>
          </a:ln>
        </p:spPr>
      </p:sp>
      <p:sp>
        <p:nvSpPr>
          <p:cNvPr id="23" name="Text 21"/>
          <p:cNvSpPr txBox="1"/>
          <p:nvPr/>
        </p:nvSpPr>
        <p:spPr>
          <a:xfrm>
            <a:off x="8135547" y="1783080"/>
            <a:ext cx="154403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4" name="Text 22"/>
          <p:cNvSpPr txBox="1"/>
          <p:nvPr/>
        </p:nvSpPr>
        <p:spPr>
          <a:xfrm>
            <a:off x="8135547"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120s</a:t>
            </a:r>
            <a:endParaRPr lang="en-US" sz="1000" dirty="0"/>
          </a:p>
        </p:txBody>
      </p:sp>
      <p:sp>
        <p:nvSpPr>
          <p:cNvPr id="25" name="Shape 23"/>
          <p:cNvSpPr/>
          <p:nvPr/>
        </p:nvSpPr>
        <p:spPr>
          <a:xfrm>
            <a:off x="9716153" y="1783080"/>
            <a:ext cx="1227909" cy="640080"/>
          </a:xfrm>
          <a:prstGeom prst="rect">
            <a:avLst/>
          </a:prstGeom>
          <a:solidFill>
            <a:srgbClr val="10263F"/>
          </a:solidFill>
          <a:ln w="12700">
            <a:solidFill>
              <a:srgbClr val="10263F"/>
            </a:solidFill>
            <a:prstDash val="solid"/>
          </a:ln>
        </p:spPr>
      </p:sp>
      <p:sp>
        <p:nvSpPr>
          <p:cNvPr id="26" name="Text 24"/>
          <p:cNvSpPr txBox="1"/>
          <p:nvPr/>
        </p:nvSpPr>
        <p:spPr>
          <a:xfrm>
            <a:off x="9716153" y="1783080"/>
            <a:ext cx="1227909"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27" name="Text 25"/>
          <p:cNvSpPr txBox="1"/>
          <p:nvPr/>
        </p:nvSpPr>
        <p:spPr>
          <a:xfrm>
            <a:off x="9716153"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145s</a:t>
            </a:r>
            <a:endParaRPr lang="en-US" sz="1000" dirty="0"/>
          </a:p>
        </p:txBody>
      </p:sp>
      <p:sp>
        <p:nvSpPr>
          <p:cNvPr id="28" name="Shape 26"/>
          <p:cNvSpPr/>
          <p:nvPr/>
        </p:nvSpPr>
        <p:spPr>
          <a:xfrm>
            <a:off x="10980638" y="1783080"/>
            <a:ext cx="595666" cy="640080"/>
          </a:xfrm>
          <a:prstGeom prst="rect">
            <a:avLst/>
          </a:prstGeom>
          <a:solidFill>
            <a:srgbClr val="0E9F8E"/>
          </a:solidFill>
          <a:ln w="12700">
            <a:solidFill>
              <a:srgbClr val="0E9F8E"/>
            </a:solidFill>
            <a:prstDash val="solid"/>
          </a:ln>
        </p:spPr>
      </p:sp>
      <p:sp>
        <p:nvSpPr>
          <p:cNvPr id="29" name="Text 27"/>
          <p:cNvSpPr txBox="1"/>
          <p:nvPr/>
        </p:nvSpPr>
        <p:spPr>
          <a:xfrm>
            <a:off x="10980638" y="1783080"/>
            <a:ext cx="595666"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30" name="Text 28"/>
          <p:cNvSpPr txBox="1"/>
          <p:nvPr/>
        </p:nvSpPr>
        <p:spPr>
          <a:xfrm>
            <a:off x="10980638" y="2468880"/>
            <a:ext cx="64008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165s</a:t>
            </a:r>
            <a:endParaRPr lang="en-US" sz="1000" dirty="0"/>
          </a:p>
        </p:txBody>
      </p:sp>
      <p:sp>
        <p:nvSpPr>
          <p:cNvPr id="31" name="Text 29"/>
          <p:cNvSpPr txBox="1"/>
          <p:nvPr/>
        </p:nvSpPr>
        <p:spPr>
          <a:xfrm>
            <a:off x="10881360" y="2468880"/>
            <a:ext cx="73152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175s</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9144000" cy="914400"/>
        </p:xfrm>
        <a:graphic>
          <a:graphicData uri="http://schemas.openxmlformats.org/drawingml/2006/table">
            <a:tbl>
              <a:tblPr/>
              <a:tblGrid>
                <a:gridCol w="548640"/>
                <a:gridCol w="3657600"/>
                <a:gridCol w="1554480"/>
                <a:gridCol w="731520"/>
                <a:gridCol w="45720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Scène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Persona</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Duur</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Zelfde app, andere Kate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Emma ↔ Bram</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20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 twee telefoons naast elkaar</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Kate houdt zich bewust in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Bram</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25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 urgentiemeter, Pushbericht, "Bewust niet gezegd" (#60)</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Tijdmachine: het loon blijft uit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Jan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25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 knoppen op /demo (#60) · ⚠️ zie route-probleem</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Een gewoonte automatiseren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Sofie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20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 drie kaarten met Bevestig (#46, #48)</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4b</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B23A28"/>
                          </a:solidFill>
                          <a:latin typeface="Calibri" pitchFamily="34" charset="0"/>
                          <a:ea typeface="Calibri" pitchFamily="34" charset="-122"/>
                          <a:cs typeface="Calibri" pitchFamily="34" charset="-120"/>
                        </a:rPr>
                        <a:t>Bewijs: Sofie verandert, Kate verandert mee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Sofie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15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 live overschrijving (nagekeken)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Just say it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Emma</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15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Erfenis: begeleiden i.p.v. verkopen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Els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25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 lege feed, begeleidingsmodus, stem</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2,3 miljoen klanten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Jan (admin)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20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 /jury (#30) · cijfers aflezen op de dag zelf</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Slot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Slot: vertrouwen en veiligheid</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Sofie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10 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 schakelaar · ⏳ Aikido-screenshot "na" (#55)</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bl>
          </a:graphicData>
        </a:graphic>
      </p:graphicFrame>
      <p:sp>
        <p:nvSpPr>
          <p:cNvPr id="33" name="Text 30"/>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t"/>
          <a:lstStyle/>
          <a:p>
            <a:pPr indent="0" marL="0">
              <a:buNone/>
            </a:pPr>
            <a:r>
              <a:rPr lang="en-US" sz="3400" b="1" dirty="0">
                <a:solidFill>
                  <a:srgbClr val="10263F"/>
                </a:solidFill>
                <a:latin typeface="Cambria" pitchFamily="34" charset="0"/>
                <a:ea typeface="Cambria" pitchFamily="34" charset="-122"/>
                <a:cs typeface="Cambria" pitchFamily="34" charset="-120"/>
              </a:rPr>
              <a:t>Bewijzen dat Kate op gedrag reageert</a:t>
            </a:r>
            <a:endParaRPr lang="en-US" sz="3400" dirty="0"/>
          </a:p>
        </p:txBody>
      </p:sp>
      <p:sp>
        <p:nvSpPr>
          <p:cNvPr id="3"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500" i="1" dirty="0">
                <a:solidFill>
                  <a:srgbClr val="6B7280"/>
                </a:solidFill>
                <a:latin typeface="Calibri" pitchFamily="34" charset="0"/>
                <a:ea typeface="Calibri" pitchFamily="34" charset="-122"/>
                <a:cs typeface="Calibri" pitchFamily="34" charset="-120"/>
              </a:rPr>
              <a:t>De jury denkt: "Die personas zijn toch gewoon zo ingesteld?" Toon er minstens drie.</a:t>
            </a:r>
            <a:endParaRPr lang="en-US" sz="1500" dirty="0"/>
          </a:p>
        </p:txBody>
      </p:sp>
      <p:sp>
        <p:nvSpPr>
          <p:cNvPr id="4" name="Shape 2"/>
          <p:cNvSpPr/>
          <p:nvPr/>
        </p:nvSpPr>
        <p:spPr>
          <a:xfrm>
            <a:off x="548640" y="1600200"/>
            <a:ext cx="3566160" cy="2240280"/>
          </a:xfrm>
          <a:prstGeom prst="roundRect">
            <a:avLst>
              <a:gd name="adj" fmla="val 4898"/>
            </a:avLst>
          </a:prstGeom>
          <a:solidFill>
            <a:srgbClr val="F3F5F8"/>
          </a:solidFill>
          <a:ln w="12700">
            <a:solidFill>
              <a:srgbClr val="F3F5F8"/>
            </a:solidFill>
            <a:prstDash val="solid"/>
          </a:ln>
        </p:spPr>
      </p:sp>
      <p:sp>
        <p:nvSpPr>
          <p:cNvPr id="5" name="Shape 3"/>
          <p:cNvSpPr/>
          <p:nvPr/>
        </p:nvSpPr>
        <p:spPr>
          <a:xfrm>
            <a:off x="749808" y="1801368"/>
            <a:ext cx="548640" cy="548640"/>
          </a:xfrm>
          <a:prstGeom prst="ellipse">
            <a:avLst/>
          </a:prstGeom>
          <a:solidFill>
            <a:srgbClr val="E8604C"/>
          </a:solidFill>
          <a:ln w="12700">
            <a:solidFill>
              <a:srgbClr val="E8604C"/>
            </a:solidFill>
            <a:prstDash val="solid"/>
          </a:ln>
        </p:spPr>
      </p:sp>
      <p:sp>
        <p:nvSpPr>
          <p:cNvPr id="6" name="Text 4"/>
          <p:cNvSpPr txBox="1"/>
          <p:nvPr/>
        </p:nvSpPr>
        <p:spPr>
          <a:xfrm>
            <a:off x="749808" y="180136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7" name="Text 5"/>
          <p:cNvSpPr txBox="1"/>
          <p:nvPr/>
        </p:nvSpPr>
        <p:spPr>
          <a:xfrm>
            <a:off x="1444752" y="1783080"/>
            <a:ext cx="2514600" cy="594360"/>
          </a:xfrm>
          <a:prstGeom prst="rect">
            <a:avLst/>
          </a:prstGeom>
          <a:noFill/>
          <a:ln/>
        </p:spPr>
        <p:txBody>
          <a:bodyPr wrap="square" lIns="0" tIns="0" rIns="0" bIns="0" rtlCol="0" anchor="ctr"/>
          <a:lstStyle/>
          <a:p>
            <a:pPr indent="0" marL="0">
              <a:buNone/>
            </a:pPr>
            <a:r>
              <a:rPr lang="en-US" sz="1450" b="1" dirty="0">
                <a:solidFill>
                  <a:srgbClr val="10263F"/>
                </a:solidFill>
                <a:latin typeface="Calibri" pitchFamily="34" charset="0"/>
                <a:ea typeface="Calibri" pitchFamily="34" charset="-122"/>
                <a:cs typeface="Calibri" pitchFamily="34" charset="-120"/>
              </a:rPr>
              <a:t>Gedrag live veranderen</a:t>
            </a:r>
            <a:endParaRPr lang="en-US" sz="1450" dirty="0"/>
          </a:p>
        </p:txBody>
      </p:sp>
      <p:sp>
        <p:nvSpPr>
          <p:cNvPr id="8" name="Text 6"/>
          <p:cNvSpPr txBox="1"/>
          <p:nvPr/>
        </p:nvSpPr>
        <p:spPr>
          <a:xfrm>
            <a:off x="749808" y="2496312"/>
            <a:ext cx="3163824" cy="5486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Sofie zet € 400 van spaar- naar zichtrekening, daarna home verversen.</a:t>
            </a:r>
            <a:endParaRPr lang="en-US" sz="1200" dirty="0"/>
          </a:p>
        </p:txBody>
      </p:sp>
      <p:sp>
        <p:nvSpPr>
          <p:cNvPr id="9" name="Text 7"/>
          <p:cNvSpPr txBox="1"/>
          <p:nvPr/>
        </p:nvSpPr>
        <p:spPr>
          <a:xfrm>
            <a:off x="749808" y="3017520"/>
            <a:ext cx="3163824" cy="411480"/>
          </a:xfrm>
          <a:prstGeom prst="rect">
            <a:avLst/>
          </a:prstGeom>
          <a:noFill/>
          <a:ln/>
        </p:spPr>
        <p:txBody>
          <a:bodyPr wrap="square" lIns="0" tIns="0" rIns="0" bIns="0" rtlCol="0" anchor="t"/>
          <a:lstStyle/>
          <a:p>
            <a:pPr indent="0" marL="0">
              <a:buNone/>
            </a:pPr>
            <a:r>
              <a:rPr lang="en-US" sz="1200" b="1" dirty="0">
                <a:solidFill>
                  <a:srgbClr val="0E9F8E"/>
                </a:solidFill>
                <a:latin typeface="Calibri" pitchFamily="34" charset="0"/>
                <a:ea typeface="Calibri" pitchFamily="34" charset="-122"/>
                <a:cs typeface="Calibri" pitchFamily="34" charset="-120"/>
              </a:rPr>
              <a:t>→ De spaarvoorstel-kaart verdwijnt.</a:t>
            </a:r>
            <a:endParaRPr lang="en-US" sz="1200" dirty="0"/>
          </a:p>
        </p:txBody>
      </p:sp>
      <p:sp>
        <p:nvSpPr>
          <p:cNvPr id="10" name="Text 8"/>
          <p:cNvSpPr txBox="1"/>
          <p:nvPr/>
        </p:nvSpPr>
        <p:spPr>
          <a:xfrm>
            <a:off x="749808" y="3447288"/>
            <a:ext cx="3163824"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Scène 4b</a:t>
            </a:r>
            <a:endParaRPr lang="en-US" sz="1100" dirty="0"/>
          </a:p>
        </p:txBody>
      </p:sp>
      <p:sp>
        <p:nvSpPr>
          <p:cNvPr id="11" name="Shape 9"/>
          <p:cNvSpPr/>
          <p:nvPr/>
        </p:nvSpPr>
        <p:spPr>
          <a:xfrm>
            <a:off x="4297680" y="1600200"/>
            <a:ext cx="3566160" cy="2240280"/>
          </a:xfrm>
          <a:prstGeom prst="roundRect">
            <a:avLst>
              <a:gd name="adj" fmla="val 4898"/>
            </a:avLst>
          </a:prstGeom>
          <a:solidFill>
            <a:srgbClr val="F3F5F8"/>
          </a:solidFill>
          <a:ln w="12700">
            <a:solidFill>
              <a:srgbClr val="F3F5F8"/>
            </a:solidFill>
            <a:prstDash val="solid"/>
          </a:ln>
        </p:spPr>
      </p:sp>
      <p:sp>
        <p:nvSpPr>
          <p:cNvPr id="12" name="Shape 10"/>
          <p:cNvSpPr/>
          <p:nvPr/>
        </p:nvSpPr>
        <p:spPr>
          <a:xfrm>
            <a:off x="4498848" y="1801368"/>
            <a:ext cx="548640" cy="548640"/>
          </a:xfrm>
          <a:prstGeom prst="ellipse">
            <a:avLst/>
          </a:prstGeom>
          <a:solidFill>
            <a:srgbClr val="E8604C"/>
          </a:solidFill>
          <a:ln w="12700">
            <a:solidFill>
              <a:srgbClr val="E8604C"/>
            </a:solidFill>
            <a:prstDash val="solid"/>
          </a:ln>
        </p:spPr>
      </p:sp>
      <p:sp>
        <p:nvSpPr>
          <p:cNvPr id="13" name="Text 11"/>
          <p:cNvSpPr txBox="1"/>
          <p:nvPr/>
        </p:nvSpPr>
        <p:spPr>
          <a:xfrm>
            <a:off x="4498848" y="180136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14" name="Text 12"/>
          <p:cNvSpPr txBox="1"/>
          <p:nvPr/>
        </p:nvSpPr>
        <p:spPr>
          <a:xfrm>
            <a:off x="5193792" y="1783080"/>
            <a:ext cx="2514600" cy="594360"/>
          </a:xfrm>
          <a:prstGeom prst="rect">
            <a:avLst/>
          </a:prstGeom>
          <a:noFill/>
          <a:ln/>
        </p:spPr>
        <p:txBody>
          <a:bodyPr wrap="square" lIns="0" tIns="0" rIns="0" bIns="0" rtlCol="0" anchor="ctr"/>
          <a:lstStyle/>
          <a:p>
            <a:pPr indent="0" marL="0">
              <a:buNone/>
            </a:pPr>
            <a:r>
              <a:rPr lang="en-US" sz="1450" b="1" dirty="0">
                <a:solidFill>
                  <a:srgbClr val="10263F"/>
                </a:solidFill>
                <a:latin typeface="Calibri" pitchFamily="34" charset="0"/>
                <a:ea typeface="Calibri" pitchFamily="34" charset="-122"/>
                <a:cs typeface="Calibri" pitchFamily="34" charset="-120"/>
              </a:rPr>
              <a:t>Zelfde klant, ander verloop</a:t>
            </a:r>
            <a:endParaRPr lang="en-US" sz="1450" dirty="0"/>
          </a:p>
        </p:txBody>
      </p:sp>
      <p:sp>
        <p:nvSpPr>
          <p:cNvPr id="15" name="Text 13"/>
          <p:cNvSpPr txBox="1"/>
          <p:nvPr/>
        </p:nvSpPr>
        <p:spPr>
          <a:xfrm>
            <a:off x="4498848" y="2496312"/>
            <a:ext cx="3163824" cy="5486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Jan: tijdmachine eerst "loon komt binnen", dan "loon blijft uit".</a:t>
            </a:r>
            <a:endParaRPr lang="en-US" sz="1200" dirty="0"/>
          </a:p>
        </p:txBody>
      </p:sp>
      <p:sp>
        <p:nvSpPr>
          <p:cNvPr id="16" name="Text 14"/>
          <p:cNvSpPr txBox="1"/>
          <p:nvPr/>
        </p:nvSpPr>
        <p:spPr>
          <a:xfrm>
            <a:off x="4498848" y="3017520"/>
            <a:ext cx="3163824" cy="411480"/>
          </a:xfrm>
          <a:prstGeom prst="rect">
            <a:avLst/>
          </a:prstGeom>
          <a:noFill/>
          <a:ln/>
        </p:spPr>
        <p:txBody>
          <a:bodyPr wrap="square" lIns="0" tIns="0" rIns="0" bIns="0" rtlCol="0" anchor="t"/>
          <a:lstStyle/>
          <a:p>
            <a:pPr indent="0" marL="0">
              <a:buNone/>
            </a:pPr>
            <a:r>
              <a:rPr lang="en-US" sz="1200" b="1" dirty="0">
                <a:solidFill>
                  <a:srgbClr val="0E9F8E"/>
                </a:solidFill>
                <a:latin typeface="Calibri" pitchFamily="34" charset="0"/>
                <a:ea typeface="Calibri" pitchFamily="34" charset="-122"/>
                <a:cs typeface="Calibri" pitchFamily="34" charset="-120"/>
              </a:rPr>
              <a:t>→ Rustig vs. sms met urgentie 98.</a:t>
            </a:r>
            <a:endParaRPr lang="en-US" sz="1200" dirty="0"/>
          </a:p>
        </p:txBody>
      </p:sp>
      <p:sp>
        <p:nvSpPr>
          <p:cNvPr id="17" name="Text 15"/>
          <p:cNvSpPr txBox="1"/>
          <p:nvPr/>
        </p:nvSpPr>
        <p:spPr>
          <a:xfrm>
            <a:off x="4498848" y="3447288"/>
            <a:ext cx="3163824"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Scène 3</a:t>
            </a:r>
            <a:endParaRPr lang="en-US" sz="1100" dirty="0"/>
          </a:p>
        </p:txBody>
      </p:sp>
      <p:sp>
        <p:nvSpPr>
          <p:cNvPr id="18" name="Shape 16"/>
          <p:cNvSpPr/>
          <p:nvPr/>
        </p:nvSpPr>
        <p:spPr>
          <a:xfrm>
            <a:off x="8046720" y="1600200"/>
            <a:ext cx="3566160" cy="2240280"/>
          </a:xfrm>
          <a:prstGeom prst="roundRect">
            <a:avLst>
              <a:gd name="adj" fmla="val 4898"/>
            </a:avLst>
          </a:prstGeom>
          <a:solidFill>
            <a:srgbClr val="F3F5F8"/>
          </a:solidFill>
          <a:ln w="12700">
            <a:solidFill>
              <a:srgbClr val="F3F5F8"/>
            </a:solidFill>
            <a:prstDash val="solid"/>
          </a:ln>
        </p:spPr>
      </p:sp>
      <p:sp>
        <p:nvSpPr>
          <p:cNvPr id="19" name="Shape 17"/>
          <p:cNvSpPr/>
          <p:nvPr/>
        </p:nvSpPr>
        <p:spPr>
          <a:xfrm>
            <a:off x="8247888" y="1801368"/>
            <a:ext cx="548640" cy="548640"/>
          </a:xfrm>
          <a:prstGeom prst="ellipse">
            <a:avLst/>
          </a:prstGeom>
          <a:solidFill>
            <a:srgbClr val="E8604C"/>
          </a:solidFill>
          <a:ln w="12700">
            <a:solidFill>
              <a:srgbClr val="E8604C"/>
            </a:solidFill>
            <a:prstDash val="solid"/>
          </a:ln>
        </p:spPr>
      </p:sp>
      <p:sp>
        <p:nvSpPr>
          <p:cNvPr id="20" name="Text 18"/>
          <p:cNvSpPr txBox="1"/>
          <p:nvPr/>
        </p:nvSpPr>
        <p:spPr>
          <a:xfrm>
            <a:off x="8247888" y="180136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21" name="Text 19"/>
          <p:cNvSpPr txBox="1"/>
          <p:nvPr/>
        </p:nvSpPr>
        <p:spPr>
          <a:xfrm>
            <a:off x="8942832" y="1783080"/>
            <a:ext cx="2514600" cy="594360"/>
          </a:xfrm>
          <a:prstGeom prst="rect">
            <a:avLst/>
          </a:prstGeom>
          <a:noFill/>
          <a:ln/>
        </p:spPr>
        <p:txBody>
          <a:bodyPr wrap="square" lIns="0" tIns="0" rIns="0" bIns="0" rtlCol="0" anchor="ctr"/>
          <a:lstStyle/>
          <a:p>
            <a:pPr indent="0" marL="0">
              <a:buNone/>
            </a:pPr>
            <a:r>
              <a:rPr lang="en-US" sz="1450" b="1" dirty="0">
                <a:solidFill>
                  <a:srgbClr val="10263F"/>
                </a:solidFill>
                <a:latin typeface="Calibri" pitchFamily="34" charset="0"/>
                <a:ea typeface="Calibri" pitchFamily="34" charset="-122"/>
                <a:cs typeface="Calibri" pitchFamily="34" charset="-120"/>
              </a:rPr>
              <a:t>"Waarom zie ik dit?" = eigen cijfers</a:t>
            </a:r>
            <a:endParaRPr lang="en-US" sz="1450" dirty="0"/>
          </a:p>
        </p:txBody>
      </p:sp>
      <p:sp>
        <p:nvSpPr>
          <p:cNvPr id="22" name="Text 20"/>
          <p:cNvSpPr txBox="1"/>
          <p:nvPr/>
        </p:nvSpPr>
        <p:spPr>
          <a:xfrm>
            <a:off x="8247888" y="2496312"/>
            <a:ext cx="3163824" cy="5486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Reden openklikken, meteen daarna de rekeninghistoriek tonen.</a:t>
            </a:r>
            <a:endParaRPr lang="en-US" sz="1200" dirty="0"/>
          </a:p>
        </p:txBody>
      </p:sp>
      <p:sp>
        <p:nvSpPr>
          <p:cNvPr id="23" name="Text 21"/>
          <p:cNvSpPr txBox="1"/>
          <p:nvPr/>
        </p:nvSpPr>
        <p:spPr>
          <a:xfrm>
            <a:off x="8247888" y="3017520"/>
            <a:ext cx="3163824" cy="411480"/>
          </a:xfrm>
          <a:prstGeom prst="rect">
            <a:avLst/>
          </a:prstGeom>
          <a:noFill/>
          <a:ln/>
        </p:spPr>
        <p:txBody>
          <a:bodyPr wrap="square" lIns="0" tIns="0" rIns="0" bIns="0" rtlCol="0" anchor="t"/>
          <a:lstStyle/>
          <a:p>
            <a:pPr indent="0" marL="0">
              <a:buNone/>
            </a:pPr>
            <a:r>
              <a:rPr lang="en-US" sz="1200" b="1" dirty="0">
                <a:solidFill>
                  <a:srgbClr val="0E9F8E"/>
                </a:solidFill>
                <a:latin typeface="Calibri" pitchFamily="34" charset="0"/>
                <a:ea typeface="Calibri" pitchFamily="34" charset="-122"/>
                <a:cs typeface="Calibri" pitchFamily="34" charset="-120"/>
              </a:rPr>
              <a:t>→ Bram: € 212,40 &lt; huur € 720,00.</a:t>
            </a:r>
            <a:endParaRPr lang="en-US" sz="1200" dirty="0"/>
          </a:p>
        </p:txBody>
      </p:sp>
      <p:sp>
        <p:nvSpPr>
          <p:cNvPr id="24" name="Text 22"/>
          <p:cNvSpPr txBox="1"/>
          <p:nvPr/>
        </p:nvSpPr>
        <p:spPr>
          <a:xfrm>
            <a:off x="8247888" y="3447288"/>
            <a:ext cx="3163824"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Scène 2, 4</a:t>
            </a:r>
            <a:endParaRPr lang="en-US" sz="1100" dirty="0"/>
          </a:p>
        </p:txBody>
      </p:sp>
      <p:sp>
        <p:nvSpPr>
          <p:cNvPr id="25" name="Shape 23"/>
          <p:cNvSpPr/>
          <p:nvPr/>
        </p:nvSpPr>
        <p:spPr>
          <a:xfrm>
            <a:off x="548640" y="4023360"/>
            <a:ext cx="3566160" cy="2240280"/>
          </a:xfrm>
          <a:prstGeom prst="roundRect">
            <a:avLst>
              <a:gd name="adj" fmla="val 4898"/>
            </a:avLst>
          </a:prstGeom>
          <a:solidFill>
            <a:srgbClr val="F3F5F8"/>
          </a:solidFill>
          <a:ln w="12700">
            <a:solidFill>
              <a:srgbClr val="F3F5F8"/>
            </a:solidFill>
            <a:prstDash val="solid"/>
          </a:ln>
        </p:spPr>
      </p:sp>
      <p:sp>
        <p:nvSpPr>
          <p:cNvPr id="26" name="Shape 24"/>
          <p:cNvSpPr/>
          <p:nvPr/>
        </p:nvSpPr>
        <p:spPr>
          <a:xfrm>
            <a:off x="749808" y="4224528"/>
            <a:ext cx="548640" cy="548640"/>
          </a:xfrm>
          <a:prstGeom prst="ellipse">
            <a:avLst/>
          </a:prstGeom>
          <a:solidFill>
            <a:srgbClr val="E8604C"/>
          </a:solidFill>
          <a:ln w="12700">
            <a:solidFill>
              <a:srgbClr val="E8604C"/>
            </a:solidFill>
            <a:prstDash val="solid"/>
          </a:ln>
        </p:spPr>
      </p:sp>
      <p:sp>
        <p:nvSpPr>
          <p:cNvPr id="27" name="Text 25"/>
          <p:cNvSpPr txBox="1"/>
          <p:nvPr/>
        </p:nvSpPr>
        <p:spPr>
          <a:xfrm>
            <a:off x="749808" y="42245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a:t>
            </a:r>
            <a:endParaRPr lang="en-US" sz="2000" dirty="0"/>
          </a:p>
        </p:txBody>
      </p:sp>
      <p:sp>
        <p:nvSpPr>
          <p:cNvPr id="28" name="Text 26"/>
          <p:cNvSpPr txBox="1"/>
          <p:nvPr/>
        </p:nvSpPr>
        <p:spPr>
          <a:xfrm>
            <a:off x="1444752" y="4206240"/>
            <a:ext cx="2514600" cy="594360"/>
          </a:xfrm>
          <a:prstGeom prst="rect">
            <a:avLst/>
          </a:prstGeom>
          <a:noFill/>
          <a:ln/>
        </p:spPr>
        <p:txBody>
          <a:bodyPr wrap="square" lIns="0" tIns="0" rIns="0" bIns="0" rtlCol="0" anchor="ctr"/>
          <a:lstStyle/>
          <a:p>
            <a:pPr indent="0" marL="0">
              <a:buNone/>
            </a:pPr>
            <a:r>
              <a:rPr lang="en-US" sz="1450" b="1" dirty="0">
                <a:solidFill>
                  <a:srgbClr val="10263F"/>
                </a:solidFill>
                <a:latin typeface="Calibri" pitchFamily="34" charset="0"/>
                <a:ea typeface="Calibri" pitchFamily="34" charset="-122"/>
                <a:cs typeface="Calibri" pitchFamily="34" charset="-120"/>
              </a:rPr>
              <a:t>Gedrag afschermen</a:t>
            </a:r>
            <a:endParaRPr lang="en-US" sz="1450" dirty="0"/>
          </a:p>
        </p:txBody>
      </p:sp>
      <p:sp>
        <p:nvSpPr>
          <p:cNvPr id="29" name="Text 27"/>
          <p:cNvSpPr txBox="1"/>
          <p:nvPr/>
        </p:nvSpPr>
        <p:spPr>
          <a:xfrm>
            <a:off x="749808" y="4919472"/>
            <a:ext cx="3163824" cy="5486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Sofie zet de schakelaar voor uitgaven uit.</a:t>
            </a:r>
            <a:endParaRPr lang="en-US" sz="1200" dirty="0"/>
          </a:p>
        </p:txBody>
      </p:sp>
      <p:sp>
        <p:nvSpPr>
          <p:cNvPr id="30" name="Text 28"/>
          <p:cNvSpPr txBox="1"/>
          <p:nvPr/>
        </p:nvSpPr>
        <p:spPr>
          <a:xfrm>
            <a:off x="749808" y="5440680"/>
            <a:ext cx="3163824" cy="411480"/>
          </a:xfrm>
          <a:prstGeom prst="rect">
            <a:avLst/>
          </a:prstGeom>
          <a:noFill/>
          <a:ln/>
        </p:spPr>
        <p:txBody>
          <a:bodyPr wrap="square" lIns="0" tIns="0" rIns="0" bIns="0" rtlCol="0" anchor="t"/>
          <a:lstStyle/>
          <a:p>
            <a:pPr indent="0" marL="0">
              <a:buNone/>
            </a:pPr>
            <a:r>
              <a:rPr lang="en-US" sz="1200" b="1" dirty="0">
                <a:solidFill>
                  <a:srgbClr val="0E9F8E"/>
                </a:solidFill>
                <a:latin typeface="Calibri" pitchFamily="34" charset="0"/>
                <a:ea typeface="Calibri" pitchFamily="34" charset="-122"/>
                <a:cs typeface="Calibri" pitchFamily="34" charset="-120"/>
              </a:rPr>
              <a:t>→ Spaarvoorstel en tankdeal weg, Luxepakket blijft.</a:t>
            </a:r>
            <a:endParaRPr lang="en-US" sz="1200" dirty="0"/>
          </a:p>
        </p:txBody>
      </p:sp>
      <p:sp>
        <p:nvSpPr>
          <p:cNvPr id="31" name="Text 29"/>
          <p:cNvSpPr txBox="1"/>
          <p:nvPr/>
        </p:nvSpPr>
        <p:spPr>
          <a:xfrm>
            <a:off x="749808" y="5870448"/>
            <a:ext cx="3163824"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Slot</a:t>
            </a:r>
            <a:endParaRPr lang="en-US" sz="1100" dirty="0"/>
          </a:p>
        </p:txBody>
      </p:sp>
      <p:sp>
        <p:nvSpPr>
          <p:cNvPr id="32" name="Shape 30"/>
          <p:cNvSpPr/>
          <p:nvPr/>
        </p:nvSpPr>
        <p:spPr>
          <a:xfrm>
            <a:off x="4297680" y="4023360"/>
            <a:ext cx="3566160" cy="2240280"/>
          </a:xfrm>
          <a:prstGeom prst="roundRect">
            <a:avLst>
              <a:gd name="adj" fmla="val 4898"/>
            </a:avLst>
          </a:prstGeom>
          <a:solidFill>
            <a:srgbClr val="F3F5F8"/>
          </a:solidFill>
          <a:ln w="12700">
            <a:solidFill>
              <a:srgbClr val="F3F5F8"/>
            </a:solidFill>
            <a:prstDash val="solid"/>
          </a:ln>
        </p:spPr>
      </p:sp>
      <p:sp>
        <p:nvSpPr>
          <p:cNvPr id="33" name="Shape 31"/>
          <p:cNvSpPr/>
          <p:nvPr/>
        </p:nvSpPr>
        <p:spPr>
          <a:xfrm>
            <a:off x="4498848" y="4224528"/>
            <a:ext cx="548640" cy="548640"/>
          </a:xfrm>
          <a:prstGeom prst="ellipse">
            <a:avLst/>
          </a:prstGeom>
          <a:solidFill>
            <a:srgbClr val="E8604C"/>
          </a:solidFill>
          <a:ln w="12700">
            <a:solidFill>
              <a:srgbClr val="E8604C"/>
            </a:solidFill>
            <a:prstDash val="solid"/>
          </a:ln>
        </p:spPr>
      </p:sp>
      <p:sp>
        <p:nvSpPr>
          <p:cNvPr id="34" name="Text 32"/>
          <p:cNvSpPr txBox="1"/>
          <p:nvPr/>
        </p:nvSpPr>
        <p:spPr>
          <a:xfrm>
            <a:off x="4498848" y="42245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E</a:t>
            </a:r>
            <a:endParaRPr lang="en-US" sz="2000" dirty="0"/>
          </a:p>
        </p:txBody>
      </p:sp>
      <p:sp>
        <p:nvSpPr>
          <p:cNvPr id="35" name="Text 33"/>
          <p:cNvSpPr txBox="1"/>
          <p:nvPr/>
        </p:nvSpPr>
        <p:spPr>
          <a:xfrm>
            <a:off x="5193792" y="4206240"/>
            <a:ext cx="2514600" cy="594360"/>
          </a:xfrm>
          <a:prstGeom prst="rect">
            <a:avLst/>
          </a:prstGeom>
          <a:noFill/>
          <a:ln/>
        </p:spPr>
        <p:txBody>
          <a:bodyPr wrap="square" lIns="0" tIns="0" rIns="0" bIns="0" rtlCol="0" anchor="ctr"/>
          <a:lstStyle/>
          <a:p>
            <a:pPr indent="0" marL="0">
              <a:buNone/>
            </a:pPr>
            <a:r>
              <a:rPr lang="en-US" sz="1450" b="1" dirty="0">
                <a:solidFill>
                  <a:srgbClr val="10263F"/>
                </a:solidFill>
                <a:latin typeface="Calibri" pitchFamily="34" charset="0"/>
                <a:ea typeface="Calibri" pitchFamily="34" charset="-122"/>
                <a:cs typeface="Calibri" pitchFamily="34" charset="-120"/>
              </a:rPr>
              <a:t>Dezelfde code, 10 000 onbekenden</a:t>
            </a:r>
            <a:endParaRPr lang="en-US" sz="1450" dirty="0"/>
          </a:p>
        </p:txBody>
      </p:sp>
      <p:sp>
        <p:nvSpPr>
          <p:cNvPr id="36" name="Text 34"/>
          <p:cNvSpPr txBox="1"/>
          <p:nvPr/>
        </p:nvSpPr>
        <p:spPr>
          <a:xfrm>
            <a:off x="4498848" y="4919472"/>
            <a:ext cx="3163824" cy="5486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Dashboard /jury tonen.</a:t>
            </a:r>
            <a:endParaRPr lang="en-US" sz="1200" dirty="0"/>
          </a:p>
        </p:txBody>
      </p:sp>
      <p:sp>
        <p:nvSpPr>
          <p:cNvPr id="37" name="Text 35"/>
          <p:cNvSpPr txBox="1"/>
          <p:nvPr/>
        </p:nvSpPr>
        <p:spPr>
          <a:xfrm>
            <a:off x="4498848" y="5440680"/>
            <a:ext cx="3163824" cy="411480"/>
          </a:xfrm>
          <a:prstGeom prst="rect">
            <a:avLst/>
          </a:prstGeom>
          <a:noFill/>
          <a:ln/>
        </p:spPr>
        <p:txBody>
          <a:bodyPr wrap="square" lIns="0" tIns="0" rIns="0" bIns="0" rtlCol="0" anchor="t"/>
          <a:lstStyle/>
          <a:p>
            <a:pPr indent="0" marL="0">
              <a:buNone/>
            </a:pPr>
            <a:r>
              <a:rPr lang="en-US" sz="1200" b="1" dirty="0">
                <a:solidFill>
                  <a:srgbClr val="0E9F8E"/>
                </a:solidFill>
                <a:latin typeface="Calibri" pitchFamily="34" charset="0"/>
                <a:ea typeface="Calibri" pitchFamily="34" charset="-122"/>
                <a:cs typeface="Calibri" pitchFamily="34" charset="-120"/>
              </a:rPr>
              <a:t>→ 45,3 % kreeg bewust niets.</a:t>
            </a:r>
            <a:endParaRPr lang="en-US" sz="1200" dirty="0"/>
          </a:p>
        </p:txBody>
      </p:sp>
      <p:sp>
        <p:nvSpPr>
          <p:cNvPr id="38" name="Text 36"/>
          <p:cNvSpPr txBox="1"/>
          <p:nvPr/>
        </p:nvSpPr>
        <p:spPr>
          <a:xfrm>
            <a:off x="4498848" y="5870448"/>
            <a:ext cx="3163824"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Scène 7</a:t>
            </a:r>
            <a:endParaRPr lang="en-US" sz="1100" dirty="0"/>
          </a:p>
        </p:txBody>
      </p:sp>
      <p:sp>
        <p:nvSpPr>
          <p:cNvPr id="39" name="Shape 37"/>
          <p:cNvSpPr/>
          <p:nvPr/>
        </p:nvSpPr>
        <p:spPr>
          <a:xfrm>
            <a:off x="8046720" y="4023360"/>
            <a:ext cx="3566160" cy="2240280"/>
          </a:xfrm>
          <a:prstGeom prst="roundRect">
            <a:avLst>
              <a:gd name="adj" fmla="val 4898"/>
            </a:avLst>
          </a:prstGeom>
          <a:solidFill>
            <a:srgbClr val="F3F5F8"/>
          </a:solidFill>
          <a:ln w="12700">
            <a:solidFill>
              <a:srgbClr val="F3F5F8"/>
            </a:solidFill>
            <a:prstDash val="solid"/>
          </a:ln>
        </p:spPr>
      </p:sp>
      <p:sp>
        <p:nvSpPr>
          <p:cNvPr id="40" name="Shape 38"/>
          <p:cNvSpPr/>
          <p:nvPr/>
        </p:nvSpPr>
        <p:spPr>
          <a:xfrm>
            <a:off x="8247888" y="4224528"/>
            <a:ext cx="548640" cy="548640"/>
          </a:xfrm>
          <a:prstGeom prst="ellipse">
            <a:avLst/>
          </a:prstGeom>
          <a:solidFill>
            <a:srgbClr val="6B7280"/>
          </a:solidFill>
          <a:ln w="12700">
            <a:solidFill>
              <a:srgbClr val="6B7280"/>
            </a:solidFill>
            <a:prstDash val="solid"/>
          </a:ln>
        </p:spPr>
      </p:sp>
      <p:sp>
        <p:nvSpPr>
          <p:cNvPr id="41" name="Text 39"/>
          <p:cNvSpPr txBox="1"/>
          <p:nvPr/>
        </p:nvSpPr>
        <p:spPr>
          <a:xfrm>
            <a:off x="8247888" y="42245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F</a:t>
            </a:r>
            <a:endParaRPr lang="en-US" sz="2000" dirty="0"/>
          </a:p>
        </p:txBody>
      </p:sp>
      <p:sp>
        <p:nvSpPr>
          <p:cNvPr id="42" name="Text 40"/>
          <p:cNvSpPr txBox="1"/>
          <p:nvPr/>
        </p:nvSpPr>
        <p:spPr>
          <a:xfrm>
            <a:off x="8942832" y="4206240"/>
            <a:ext cx="2514600" cy="594360"/>
          </a:xfrm>
          <a:prstGeom prst="rect">
            <a:avLst/>
          </a:prstGeom>
          <a:noFill/>
          <a:ln/>
        </p:spPr>
        <p:txBody>
          <a:bodyPr wrap="square" lIns="0" tIns="0" rIns="0" bIns="0" rtlCol="0" anchor="ctr"/>
          <a:lstStyle/>
          <a:p>
            <a:pPr indent="0" marL="0">
              <a:buNone/>
            </a:pPr>
            <a:r>
              <a:rPr lang="en-US" sz="1450" b="1" dirty="0">
                <a:solidFill>
                  <a:srgbClr val="10263F"/>
                </a:solidFill>
                <a:latin typeface="Calibri" pitchFamily="34" charset="0"/>
                <a:ea typeface="Calibri" pitchFamily="34" charset="-122"/>
                <a:cs typeface="Calibri" pitchFamily="34" charset="-120"/>
              </a:rPr>
              <a:t>De code zelf (optioneel, 3 s)</a:t>
            </a:r>
            <a:endParaRPr lang="en-US" sz="1450" dirty="0"/>
          </a:p>
        </p:txBody>
      </p:sp>
      <p:sp>
        <p:nvSpPr>
          <p:cNvPr id="43" name="Text 41"/>
          <p:cNvSpPr txBox="1"/>
          <p:nvPr/>
        </p:nvSpPr>
        <p:spPr>
          <a:xfrm>
            <a:off x="8247888" y="4919472"/>
            <a:ext cx="3163824" cy="5486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backend/app/moments/signals.py in de editor.</a:t>
            </a:r>
            <a:endParaRPr lang="en-US" sz="1200" dirty="0"/>
          </a:p>
        </p:txBody>
      </p:sp>
      <p:sp>
        <p:nvSpPr>
          <p:cNvPr id="44" name="Text 42"/>
          <p:cNvSpPr txBox="1"/>
          <p:nvPr/>
        </p:nvSpPr>
        <p:spPr>
          <a:xfrm>
            <a:off x="8247888" y="5440680"/>
            <a:ext cx="3163824" cy="411480"/>
          </a:xfrm>
          <a:prstGeom prst="rect">
            <a:avLst/>
          </a:prstGeom>
          <a:noFill/>
          <a:ln/>
        </p:spPr>
        <p:txBody>
          <a:bodyPr wrap="square" lIns="0" tIns="0" rIns="0" bIns="0" rtlCol="0" anchor="t"/>
          <a:lstStyle/>
          <a:p>
            <a:pPr indent="0" marL="0">
              <a:buNone/>
            </a:pPr>
            <a:r>
              <a:rPr lang="en-US" sz="1200" b="1" dirty="0">
                <a:solidFill>
                  <a:srgbClr val="0E9F8E"/>
                </a:solidFill>
                <a:latin typeface="Calibri" pitchFamily="34" charset="0"/>
                <a:ea typeface="Calibri" pitchFamily="34" charset="-122"/>
                <a:cs typeface="Calibri" pitchFamily="34" charset="-120"/>
              </a:rPr>
              <a:t>→ Geen enkele personanaam in de engine.</a:t>
            </a:r>
            <a:endParaRPr lang="en-US" sz="1200" dirty="0"/>
          </a:p>
        </p:txBody>
      </p:sp>
      <p:sp>
        <p:nvSpPr>
          <p:cNvPr id="45" name="Text 43"/>
          <p:cNvSpPr txBox="1"/>
          <p:nvPr/>
        </p:nvSpPr>
        <p:spPr>
          <a:xfrm>
            <a:off x="8247888" y="5870448"/>
            <a:ext cx="3163824"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Tussen 1 en 2</a:t>
            </a:r>
            <a:endParaRPr lang="en-US" sz="1100" dirty="0"/>
          </a:p>
        </p:txBody>
      </p:sp>
      <p:sp>
        <p:nvSpPr>
          <p:cNvPr id="46" name="Text 44"/>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t"/>
          <a:lstStyle/>
          <a:p>
            <a:pPr indent="0" marL="0">
              <a:buNone/>
            </a:pPr>
            <a:r>
              <a:rPr lang="en-US" sz="3400" b="1" dirty="0">
                <a:solidFill>
                  <a:srgbClr val="10263F"/>
                </a:solidFill>
                <a:latin typeface="Cambria" pitchFamily="34" charset="0"/>
                <a:ea typeface="Cambria" pitchFamily="34" charset="-122"/>
                <a:cs typeface="Cambria" pitchFamily="34" charset="-120"/>
              </a:rPr>
              <a:t>Van gedrag naar feature</a:t>
            </a:r>
            <a:endParaRPr lang="en-US" sz="3400" dirty="0"/>
          </a:p>
        </p:txBody>
      </p:sp>
      <p:sp>
        <p:nvSpPr>
          <p:cNvPr id="3"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500" i="1" dirty="0">
                <a:solidFill>
                  <a:srgbClr val="6B7280"/>
                </a:solidFill>
                <a:latin typeface="Calibri" pitchFamily="34" charset="0"/>
                <a:ea typeface="Calibri" pitchFamily="34" charset="-122"/>
                <a:cs typeface="Calibri" pitchFamily="34" charset="-120"/>
              </a:rPr>
              <a:t>Elke feature in de video start bij iets wat de klant zelf doet, niet bij wie de klant is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3566160"/>
                <a:gridCol w="2377440"/>
                <a:gridCol w="3291840"/>
                <a:gridCol w="18288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de klant doet (signaal)</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Kate herkent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Kate doet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de video</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0263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Nieuwe werkgever + sprong in inkomen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first_salary</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"Proficiat met je eerste loon!"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1 · Emma</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Saldo € 212,40, huur € 720</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cashflow_risk</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Push, urgentie 91, deal bewust ingehouden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1, 2 · Bram</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Vast loon komt niet binnen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income_missing</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Sms, urgentie 98</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3 · Jan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Zet al 4 maanden zelf € 250 opzij</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savings_habit_automatable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Vaste opdracht met eigen bedrag en dag</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4 · Sofie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Haalt € 400 terug uit sparen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(tegensignaal)</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Spaarvoorstel verdwijnt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4b · Sofie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Betaalt Luxepakket, reist nooit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card_package_waste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Raadt aan om minder te betalen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4 · Sofie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Tankt elke week bij hetzelfde station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deal_match</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Cashback-deal</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4 · Sofie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Zegt in één zin wat ze wil</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Kate (chat/stem)</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Overschrijving klaarzetten, klant bevestigt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5 · Emma</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Uitvaart, notaris, nalatenschap</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begeleidingsmodus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Lege feed, stappenplan + adviseur</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Sc 6 · Els</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Zet toestemming voor uitgaven uit</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toestemming</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Kaarten op basis van uitgaven verdwijnen</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0E9F8E"/>
                          </a:solidFill>
                          <a:latin typeface="Calibri" pitchFamily="34" charset="0"/>
                          <a:ea typeface="Calibri" pitchFamily="34" charset="-122"/>
                          <a:cs typeface="Calibri" pitchFamily="34" charset="-120"/>
                        </a:rPr>
                        <a:t>Slot · Sofie</a:t>
                      </a:r>
                      <a:endParaRPr lang="en-US" sz="12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t"/>
          <a:lstStyle/>
          <a:p>
            <a:pPr indent="0" marL="0">
              <a:buNone/>
            </a:pPr>
            <a:r>
              <a:rPr lang="en-US" sz="3400" b="1" dirty="0">
                <a:solidFill>
                  <a:srgbClr val="10263F"/>
                </a:solidFill>
                <a:latin typeface="Cambria" pitchFamily="34" charset="0"/>
                <a:ea typeface="Cambria" pitchFamily="34" charset="-122"/>
                <a:cs typeface="Cambria" pitchFamily="34" charset="-120"/>
              </a:rPr>
              <a:t>Features die nog niet in de video zitten</a:t>
            </a:r>
            <a:endParaRPr lang="en-US" sz="3400" dirty="0"/>
          </a:p>
        </p:txBody>
      </p:sp>
      <p:sp>
        <p:nvSpPr>
          <p:cNvPr id="3"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500" i="1" dirty="0">
                <a:solidFill>
                  <a:srgbClr val="6B7280"/>
                </a:solidFill>
                <a:latin typeface="Calibri" pitchFamily="34" charset="0"/>
                <a:ea typeface="Calibri" pitchFamily="34" charset="-122"/>
                <a:cs typeface="Calibri" pitchFamily="34" charset="-120"/>
              </a:rPr>
              <a:t>Wel in de code op main, maar door geen enkele scène getriggerd</a:t>
            </a:r>
            <a:endParaRPr lang="en-US" sz="1500" dirty="0"/>
          </a:p>
        </p:txBody>
      </p:sp>
      <p:sp>
        <p:nvSpPr>
          <p:cNvPr id="4" name="Shape 2"/>
          <p:cNvSpPr/>
          <p:nvPr/>
        </p:nvSpPr>
        <p:spPr>
          <a:xfrm>
            <a:off x="548640" y="1600200"/>
            <a:ext cx="5440680" cy="2194560"/>
          </a:xfrm>
          <a:prstGeom prst="roundRect">
            <a:avLst>
              <a:gd name="adj" fmla="val 5000"/>
            </a:avLst>
          </a:prstGeom>
          <a:solidFill>
            <a:srgbClr val="FEF4E2"/>
          </a:solidFill>
          <a:ln w="12700">
            <a:solidFill>
              <a:srgbClr val="FEF4E2"/>
            </a:solidFill>
            <a:prstDash val="solid"/>
          </a:ln>
        </p:spPr>
      </p:sp>
      <p:sp>
        <p:nvSpPr>
          <p:cNvPr id="5" name="Text 3"/>
          <p:cNvSpPr txBox="1"/>
          <p:nvPr/>
        </p:nvSpPr>
        <p:spPr>
          <a:xfrm>
            <a:off x="822960" y="1783080"/>
            <a:ext cx="4892040" cy="320040"/>
          </a:xfrm>
          <a:prstGeom prst="rect">
            <a:avLst/>
          </a:prstGeom>
          <a:noFill/>
          <a:ln/>
        </p:spPr>
        <p:txBody>
          <a:bodyPr wrap="square" lIns="0" tIns="0" rIns="0" bIns="0" rtlCol="0" anchor="t"/>
          <a:lstStyle/>
          <a:p>
            <a:pPr indent="0" marL="0">
              <a:buNone/>
            </a:pPr>
            <a:r>
              <a:rPr lang="en-US" sz="1200" b="1" spc="100" kern="0" dirty="0">
                <a:solidFill>
                  <a:srgbClr val="B7791F"/>
                </a:solidFill>
                <a:latin typeface="Calibri" pitchFamily="34" charset="0"/>
                <a:ea typeface="Calibri" pitchFamily="34" charset="-122"/>
                <a:cs typeface="Calibri" pitchFamily="34" charset="-120"/>
              </a:rPr>
              <a:t>idle_savings</a:t>
            </a:r>
            <a:endParaRPr lang="en-US" sz="1200" dirty="0"/>
          </a:p>
        </p:txBody>
      </p:sp>
      <p:sp>
        <p:nvSpPr>
          <p:cNvPr id="6" name="Text 4"/>
          <p:cNvSpPr txBox="1"/>
          <p:nvPr/>
        </p:nvSpPr>
        <p:spPr>
          <a:xfrm>
            <a:off x="822960" y="2103120"/>
            <a:ext cx="4892040" cy="411480"/>
          </a:xfrm>
          <a:prstGeom prst="rect">
            <a:avLst/>
          </a:prstGeom>
          <a:noFill/>
          <a:ln/>
        </p:spPr>
        <p:txBody>
          <a:bodyPr wrap="square" lIns="0" tIns="0" rIns="0" bIns="0" rtlCol="0" anchor="t"/>
          <a:lstStyle/>
          <a:p>
            <a:pPr indent="0" marL="0">
              <a:buNone/>
            </a:pPr>
            <a:r>
              <a:rPr lang="en-US" sz="1600" b="1" dirty="0">
                <a:solidFill>
                  <a:srgbClr val="10263F"/>
                </a:solidFill>
                <a:latin typeface="Calibri" pitchFamily="34" charset="0"/>
                <a:ea typeface="Calibri" pitchFamily="34" charset="-122"/>
                <a:cs typeface="Calibri" pitchFamily="34" charset="-120"/>
              </a:rPr>
              <a:t>Veel geld stil op de rekening</a:t>
            </a:r>
            <a:endParaRPr lang="en-US" sz="1600" dirty="0"/>
          </a:p>
        </p:txBody>
      </p:sp>
      <p:sp>
        <p:nvSpPr>
          <p:cNvPr id="7" name="Text 5"/>
          <p:cNvSpPr txBox="1"/>
          <p:nvPr/>
        </p:nvSpPr>
        <p:spPr>
          <a:xfrm>
            <a:off x="822960" y="2560320"/>
            <a:ext cx="4892040"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Kate: "Je spaargeld kan meer voor je doen" + adviseur</a:t>
            </a:r>
            <a:endParaRPr lang="en-US" sz="1300" dirty="0"/>
          </a:p>
        </p:txBody>
      </p:sp>
      <p:sp>
        <p:nvSpPr>
          <p:cNvPr id="8" name="Text 6"/>
          <p:cNvSpPr txBox="1"/>
          <p:nvPr/>
        </p:nvSpPr>
        <p:spPr>
          <a:xfrm>
            <a:off x="822960" y="3017520"/>
            <a:ext cx="4892040" cy="68580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Marie bestaat al. Voorstel: 5 s als persona-trace in scène 7.</a:t>
            </a:r>
            <a:endParaRPr lang="en-US" sz="1300" dirty="0"/>
          </a:p>
        </p:txBody>
      </p:sp>
      <p:sp>
        <p:nvSpPr>
          <p:cNvPr id="9" name="Shape 7"/>
          <p:cNvSpPr/>
          <p:nvPr/>
        </p:nvSpPr>
        <p:spPr>
          <a:xfrm>
            <a:off x="6172200" y="1600200"/>
            <a:ext cx="5440680" cy="2194560"/>
          </a:xfrm>
          <a:prstGeom prst="roundRect">
            <a:avLst>
              <a:gd name="adj" fmla="val 5000"/>
            </a:avLst>
          </a:prstGeom>
          <a:solidFill>
            <a:srgbClr val="FEF4E2"/>
          </a:solidFill>
          <a:ln w="12700">
            <a:solidFill>
              <a:srgbClr val="FEF4E2"/>
            </a:solidFill>
            <a:prstDash val="solid"/>
          </a:ln>
        </p:spPr>
      </p:sp>
      <p:sp>
        <p:nvSpPr>
          <p:cNvPr id="10" name="Text 8"/>
          <p:cNvSpPr txBox="1"/>
          <p:nvPr/>
        </p:nvSpPr>
        <p:spPr>
          <a:xfrm>
            <a:off x="6446520" y="1783080"/>
            <a:ext cx="4892040" cy="320040"/>
          </a:xfrm>
          <a:prstGeom prst="rect">
            <a:avLst/>
          </a:prstGeom>
          <a:noFill/>
          <a:ln/>
        </p:spPr>
        <p:txBody>
          <a:bodyPr wrap="square" lIns="0" tIns="0" rIns="0" bIns="0" rtlCol="0" anchor="t"/>
          <a:lstStyle/>
          <a:p>
            <a:pPr indent="0" marL="0">
              <a:buNone/>
            </a:pPr>
            <a:r>
              <a:rPr lang="en-US" sz="1200" b="1" spc="100" kern="0" dirty="0">
                <a:solidFill>
                  <a:srgbClr val="B7791F"/>
                </a:solidFill>
                <a:latin typeface="Calibri" pitchFamily="34" charset="0"/>
                <a:ea typeface="Calibri" pitchFamily="34" charset="-122"/>
                <a:cs typeface="Calibri" pitchFamily="34" charset="-120"/>
              </a:rPr>
              <a:t>card_package_gap</a:t>
            </a:r>
            <a:endParaRPr lang="en-US" sz="1200" dirty="0"/>
          </a:p>
        </p:txBody>
      </p:sp>
      <p:sp>
        <p:nvSpPr>
          <p:cNvPr id="11" name="Text 9"/>
          <p:cNvSpPr txBox="1"/>
          <p:nvPr/>
        </p:nvSpPr>
        <p:spPr>
          <a:xfrm>
            <a:off x="6446520" y="2103120"/>
            <a:ext cx="4892040" cy="411480"/>
          </a:xfrm>
          <a:prstGeom prst="rect">
            <a:avLst/>
          </a:prstGeom>
          <a:noFill/>
          <a:ln/>
        </p:spPr>
        <p:txBody>
          <a:bodyPr wrap="square" lIns="0" tIns="0" rIns="0" bIns="0" rtlCol="0" anchor="t"/>
          <a:lstStyle/>
          <a:p>
            <a:pPr indent="0" marL="0">
              <a:buNone/>
            </a:pPr>
            <a:r>
              <a:rPr lang="en-US" sz="1600" b="1" dirty="0">
                <a:solidFill>
                  <a:srgbClr val="10263F"/>
                </a:solidFill>
                <a:latin typeface="Calibri" pitchFamily="34" charset="0"/>
                <a:ea typeface="Calibri" pitchFamily="34" charset="-122"/>
                <a:cs typeface="Calibri" pitchFamily="34" charset="-120"/>
              </a:rPr>
              <a:t>Reisuitgaven zonder reisdekking</a:t>
            </a:r>
            <a:endParaRPr lang="en-US" sz="1600" dirty="0"/>
          </a:p>
        </p:txBody>
      </p:sp>
      <p:sp>
        <p:nvSpPr>
          <p:cNvPr id="12" name="Text 10"/>
          <p:cNvSpPr txBox="1"/>
          <p:nvPr/>
        </p:nvSpPr>
        <p:spPr>
          <a:xfrm>
            <a:off x="6446520" y="2560320"/>
            <a:ext cx="4892040"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Kate: Kaartpakket met reisverzekering voorstellen</a:t>
            </a:r>
            <a:endParaRPr lang="en-US" sz="1300" dirty="0"/>
          </a:p>
        </p:txBody>
      </p:sp>
      <p:sp>
        <p:nvSpPr>
          <p:cNvPr id="13" name="Text 11"/>
          <p:cNvSpPr txBox="1"/>
          <p:nvPr/>
        </p:nvSpPr>
        <p:spPr>
          <a:xfrm>
            <a:off x="6446520" y="3017520"/>
            <a:ext cx="4892040" cy="68580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Geen persona reist nu. Voorstel: reisuitgaven toevoegen aan een persona.</a:t>
            </a:r>
            <a:endParaRPr lang="en-US" sz="1300" dirty="0"/>
          </a:p>
        </p:txBody>
      </p:sp>
      <p:sp>
        <p:nvSpPr>
          <p:cNvPr id="14" name="Shape 12"/>
          <p:cNvSpPr/>
          <p:nvPr/>
        </p:nvSpPr>
        <p:spPr>
          <a:xfrm>
            <a:off x="548640" y="3977640"/>
            <a:ext cx="5440680" cy="2194560"/>
          </a:xfrm>
          <a:prstGeom prst="roundRect">
            <a:avLst>
              <a:gd name="adj" fmla="val 5000"/>
            </a:avLst>
          </a:prstGeom>
          <a:solidFill>
            <a:srgbClr val="FEF4E2"/>
          </a:solidFill>
          <a:ln w="12700">
            <a:solidFill>
              <a:srgbClr val="FEF4E2"/>
            </a:solidFill>
            <a:prstDash val="solid"/>
          </a:ln>
        </p:spPr>
      </p:sp>
      <p:sp>
        <p:nvSpPr>
          <p:cNvPr id="15" name="Text 13"/>
          <p:cNvSpPr txBox="1"/>
          <p:nvPr/>
        </p:nvSpPr>
        <p:spPr>
          <a:xfrm>
            <a:off x="822960" y="4160520"/>
            <a:ext cx="4892040" cy="320040"/>
          </a:xfrm>
          <a:prstGeom prst="rect">
            <a:avLst/>
          </a:prstGeom>
          <a:noFill/>
          <a:ln/>
        </p:spPr>
        <p:txBody>
          <a:bodyPr wrap="square" lIns="0" tIns="0" rIns="0" bIns="0" rtlCol="0" anchor="t"/>
          <a:lstStyle/>
          <a:p>
            <a:pPr indent="0" marL="0">
              <a:buNone/>
            </a:pPr>
            <a:r>
              <a:rPr lang="en-US" sz="1200" b="1" spc="100" kern="0" dirty="0">
                <a:solidFill>
                  <a:srgbClr val="B7791F"/>
                </a:solidFill>
                <a:latin typeface="Calibri" pitchFamily="34" charset="0"/>
                <a:ea typeface="Calibri" pitchFamily="34" charset="-122"/>
                <a:cs typeface="Calibri" pitchFamily="34" charset="-120"/>
              </a:rPr>
              <a:t>abonnementenbeheer</a:t>
            </a:r>
            <a:endParaRPr lang="en-US" sz="1200" dirty="0"/>
          </a:p>
        </p:txBody>
      </p:sp>
      <p:sp>
        <p:nvSpPr>
          <p:cNvPr id="16" name="Text 14"/>
          <p:cNvSpPr txBox="1"/>
          <p:nvPr/>
        </p:nvSpPr>
        <p:spPr>
          <a:xfrm>
            <a:off x="822960" y="4480560"/>
            <a:ext cx="4892040" cy="411480"/>
          </a:xfrm>
          <a:prstGeom prst="rect">
            <a:avLst/>
          </a:prstGeom>
          <a:noFill/>
          <a:ln/>
        </p:spPr>
        <p:txBody>
          <a:bodyPr wrap="square" lIns="0" tIns="0" rIns="0" bIns="0" rtlCol="0" anchor="t"/>
          <a:lstStyle/>
          <a:p>
            <a:pPr indent="0" marL="0">
              <a:buNone/>
            </a:pPr>
            <a:r>
              <a:rPr lang="en-US" sz="1600" b="1" dirty="0">
                <a:solidFill>
                  <a:srgbClr val="10263F"/>
                </a:solidFill>
                <a:latin typeface="Calibri" pitchFamily="34" charset="0"/>
                <a:ea typeface="Calibri" pitchFamily="34" charset="-122"/>
                <a:cs typeface="Calibri" pitchFamily="34" charset="-120"/>
              </a:rPr>
              <a:t>Abonnementen: prijsstijging of dubbel</a:t>
            </a:r>
            <a:endParaRPr lang="en-US" sz="1600" dirty="0"/>
          </a:p>
        </p:txBody>
      </p:sp>
      <p:sp>
        <p:nvSpPr>
          <p:cNvPr id="17" name="Text 15"/>
          <p:cNvSpPr txBox="1"/>
          <p:nvPr/>
        </p:nvSpPr>
        <p:spPr>
          <a:xfrm>
            <a:off x="822960" y="4937760"/>
            <a:ext cx="4892040"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Kate: Abonnementen tonen, dubbels en prijsstijgingen melden</a:t>
            </a:r>
            <a:endParaRPr lang="en-US" sz="1300" dirty="0"/>
          </a:p>
        </p:txBody>
      </p:sp>
      <p:sp>
        <p:nvSpPr>
          <p:cNvPr id="18" name="Text 16"/>
          <p:cNvSpPr txBox="1"/>
          <p:nvPr/>
        </p:nvSpPr>
        <p:spPr>
          <a:xfrm>
            <a:off x="822960" y="5394960"/>
            <a:ext cx="4892040" cy="68580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Voorstel: past bij Sofie in scène 4 ("minder betalen").</a:t>
            </a:r>
            <a:endParaRPr lang="en-US" sz="1300" dirty="0"/>
          </a:p>
        </p:txBody>
      </p:sp>
      <p:sp>
        <p:nvSpPr>
          <p:cNvPr id="19" name="Shape 17"/>
          <p:cNvSpPr/>
          <p:nvPr/>
        </p:nvSpPr>
        <p:spPr>
          <a:xfrm>
            <a:off x="6172200" y="3977640"/>
            <a:ext cx="5440680" cy="2194560"/>
          </a:xfrm>
          <a:prstGeom prst="roundRect">
            <a:avLst>
              <a:gd name="adj" fmla="val 5000"/>
            </a:avLst>
          </a:prstGeom>
          <a:solidFill>
            <a:srgbClr val="FEF4E2"/>
          </a:solidFill>
          <a:ln w="12700">
            <a:solidFill>
              <a:srgbClr val="FEF4E2"/>
            </a:solidFill>
            <a:prstDash val="solid"/>
          </a:ln>
        </p:spPr>
      </p:sp>
      <p:sp>
        <p:nvSpPr>
          <p:cNvPr id="20" name="Text 18"/>
          <p:cNvSpPr txBox="1"/>
          <p:nvPr/>
        </p:nvSpPr>
        <p:spPr>
          <a:xfrm>
            <a:off x="6446520" y="4160520"/>
            <a:ext cx="4892040" cy="320040"/>
          </a:xfrm>
          <a:prstGeom prst="rect">
            <a:avLst/>
          </a:prstGeom>
          <a:noFill/>
          <a:ln/>
        </p:spPr>
        <p:txBody>
          <a:bodyPr wrap="square" lIns="0" tIns="0" rIns="0" bIns="0" rtlCol="0" anchor="t"/>
          <a:lstStyle/>
          <a:p>
            <a:pPr indent="0" marL="0">
              <a:buNone/>
            </a:pPr>
            <a:r>
              <a:rPr lang="en-US" sz="1200" b="1" spc="100" kern="0" dirty="0">
                <a:solidFill>
                  <a:srgbClr val="B7791F"/>
                </a:solidFill>
                <a:latin typeface="Calibri" pitchFamily="34" charset="0"/>
                <a:ea typeface="Calibri" pitchFamily="34" charset="-122"/>
                <a:cs typeface="Calibri" pitchFamily="34" charset="-120"/>
              </a:rPr>
              <a:t>familiekring</a:t>
            </a:r>
            <a:endParaRPr lang="en-US" sz="1200" dirty="0"/>
          </a:p>
        </p:txBody>
      </p:sp>
      <p:sp>
        <p:nvSpPr>
          <p:cNvPr id="21" name="Text 19"/>
          <p:cNvSpPr txBox="1"/>
          <p:nvPr/>
        </p:nvSpPr>
        <p:spPr>
          <a:xfrm>
            <a:off x="6446520" y="4480560"/>
            <a:ext cx="4892040" cy="411480"/>
          </a:xfrm>
          <a:prstGeom prst="rect">
            <a:avLst/>
          </a:prstGeom>
          <a:noFill/>
          <a:ln/>
        </p:spPr>
        <p:txBody>
          <a:bodyPr wrap="square" lIns="0" tIns="0" rIns="0" bIns="0" rtlCol="0" anchor="t"/>
          <a:lstStyle/>
          <a:p>
            <a:pPr indent="0" marL="0">
              <a:buNone/>
            </a:pPr>
            <a:r>
              <a:rPr lang="en-US" sz="1600" b="1" dirty="0">
                <a:solidFill>
                  <a:srgbClr val="10263F"/>
                </a:solidFill>
                <a:latin typeface="Calibri" pitchFamily="34" charset="0"/>
                <a:ea typeface="Calibri" pitchFamily="34" charset="-122"/>
                <a:cs typeface="Calibri" pitchFamily="34" charset="-120"/>
              </a:rPr>
              <a:t>Rekeningen gelinkt met familie</a:t>
            </a:r>
            <a:endParaRPr lang="en-US" sz="1600" dirty="0"/>
          </a:p>
        </p:txBody>
      </p:sp>
      <p:sp>
        <p:nvSpPr>
          <p:cNvPr id="22" name="Text 20"/>
          <p:cNvSpPr txBox="1"/>
          <p:nvPr/>
        </p:nvSpPr>
        <p:spPr>
          <a:xfrm>
            <a:off x="6446520" y="4937760"/>
            <a:ext cx="4892040"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Kate: Suggesties per gelinkte persoon, gedeelde potjes</a:t>
            </a:r>
            <a:endParaRPr lang="en-US" sz="1300" dirty="0"/>
          </a:p>
        </p:txBody>
      </p:sp>
      <p:sp>
        <p:nvSpPr>
          <p:cNvPr id="23" name="Text 21"/>
          <p:cNvSpPr txBox="1"/>
          <p:nvPr/>
        </p:nvSpPr>
        <p:spPr>
          <a:xfrm>
            <a:off x="6446520" y="5394960"/>
            <a:ext cx="4892040" cy="68580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Voorstel: Emma ↔ Lucas zijn verloofd; past bij scène 5 (pizza).</a:t>
            </a:r>
            <a:endParaRPr lang="en-US" sz="1300" dirty="0"/>
          </a:p>
        </p:txBody>
      </p:sp>
      <p:sp>
        <p:nvSpPr>
          <p:cNvPr id="24" name="Text 22"/>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t"/>
          <a:lstStyle/>
          <a:p>
            <a:pPr indent="0" marL="0">
              <a:buNone/>
            </a:pPr>
            <a:r>
              <a:rPr lang="en-US" sz="3400" b="1" dirty="0">
                <a:solidFill>
                  <a:srgbClr val="10263F"/>
                </a:solidFill>
                <a:latin typeface="Cambria" pitchFamily="34" charset="0"/>
                <a:ea typeface="Cambria" pitchFamily="34" charset="-122"/>
                <a:cs typeface="Cambria" pitchFamily="34" charset="-120"/>
              </a:rPr>
              <a:t>Voorbereiding van de opname</a:t>
            </a:r>
            <a:endParaRPr lang="en-US" sz="3400" dirty="0"/>
          </a:p>
        </p:txBody>
      </p:sp>
      <p:sp>
        <p:nvSpPr>
          <p:cNvPr id="3" name="Shape 1"/>
          <p:cNvSpPr/>
          <p:nvPr/>
        </p:nvSpPr>
        <p:spPr>
          <a:xfrm>
            <a:off x="548640" y="1371600"/>
            <a:ext cx="5440680" cy="4892040"/>
          </a:xfrm>
          <a:prstGeom prst="roundRect">
            <a:avLst>
              <a:gd name="adj" fmla="val 2243"/>
            </a:avLst>
          </a:prstGeom>
          <a:solidFill>
            <a:srgbClr val="F3F5F8"/>
          </a:solidFill>
          <a:ln w="12700">
            <a:solidFill>
              <a:srgbClr val="F3F5F8"/>
            </a:solidFill>
            <a:prstDash val="solid"/>
          </a:ln>
        </p:spPr>
      </p:sp>
      <p:sp>
        <p:nvSpPr>
          <p:cNvPr id="4" name="Shape 2"/>
          <p:cNvSpPr/>
          <p:nvPr/>
        </p:nvSpPr>
        <p:spPr>
          <a:xfrm>
            <a:off x="822960" y="1600200"/>
            <a:ext cx="502920" cy="502920"/>
          </a:xfrm>
          <a:prstGeom prst="ellipse">
            <a:avLst/>
          </a:prstGeom>
          <a:solidFill>
            <a:srgbClr val="0E9F8E"/>
          </a:solidFill>
          <a:ln w="12700">
            <a:solidFill>
              <a:srgbClr val="0E9F8E"/>
            </a:solidFill>
            <a:prstDash val="solid"/>
          </a:ln>
        </p:spPr>
      </p:sp>
      <p:sp>
        <p:nvSpPr>
          <p:cNvPr id="5" name="Text 3"/>
          <p:cNvSpPr txBox="1"/>
          <p:nvPr/>
        </p:nvSpPr>
        <p:spPr>
          <a:xfrm>
            <a:off x="82296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463040" y="1600200"/>
            <a:ext cx="4251960" cy="502920"/>
          </a:xfrm>
          <a:prstGeom prst="rect">
            <a:avLst/>
          </a:prstGeom>
          <a:noFill/>
          <a:ln/>
        </p:spPr>
        <p:txBody>
          <a:bodyPr wrap="square" lIns="0" tIns="0" rIns="0" bIns="0" rtlCol="0" anchor="ctr"/>
          <a:lstStyle/>
          <a:p>
            <a:pPr indent="0" marL="0">
              <a:buNone/>
            </a:pPr>
            <a:r>
              <a:rPr lang="en-US" sz="1800" b="1" dirty="0">
                <a:solidFill>
                  <a:srgbClr val="10263F"/>
                </a:solidFill>
                <a:latin typeface="Calibri" pitchFamily="34" charset="0"/>
                <a:ea typeface="Calibri" pitchFamily="34" charset="-122"/>
                <a:cs typeface="Calibri" pitchFamily="34" charset="-120"/>
              </a:rPr>
              <a:t>Admin instellen (voor /demo en /jury)</a:t>
            </a:r>
            <a:endParaRPr lang="en-US" sz="1800" dirty="0"/>
          </a:p>
        </p:txBody>
      </p:sp>
      <p:sp>
        <p:nvSpPr>
          <p:cNvPr id="7" name="Text 5"/>
          <p:cNvSpPr txBox="1"/>
          <p:nvPr/>
        </p:nvSpPr>
        <p:spPr>
          <a:xfrm>
            <a:off x="822960" y="2331720"/>
            <a:ext cx="4892040" cy="374904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Admin = een gebruikersnaam in ADMIN_USERNAMES. Een aparte rol bestaat niet; standaard is de lijst leeg.</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Lokaal: ADMIN_USERNAMES=jan en PASSWORDLESS_LOGIN=true in .env, dan de backend herstarten.</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Cloud Run: ADMIN_USERNAMES=jan PASSWORDLESS_LOGIN=true ./deploy/cloudrun.sh</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Log in als jan voor /demo en /jury. Anders: "Alleen beschikbaar voor de demo-admin".</a:t>
            </a:r>
            <a:endParaRPr lang="en-US" sz="1450" dirty="0"/>
          </a:p>
        </p:txBody>
      </p:sp>
      <p:sp>
        <p:nvSpPr>
          <p:cNvPr id="8" name="Shape 6"/>
          <p:cNvSpPr/>
          <p:nvPr/>
        </p:nvSpPr>
        <p:spPr>
          <a:xfrm>
            <a:off x="6172200" y="1371600"/>
            <a:ext cx="5440680" cy="4892040"/>
          </a:xfrm>
          <a:prstGeom prst="roundRect">
            <a:avLst>
              <a:gd name="adj" fmla="val 2243"/>
            </a:avLst>
          </a:prstGeom>
          <a:solidFill>
            <a:srgbClr val="F3F5F8"/>
          </a:solidFill>
          <a:ln w="12700">
            <a:solidFill>
              <a:srgbClr val="F3F5F8"/>
            </a:solidFill>
            <a:prstDash val="solid"/>
          </a:ln>
        </p:spPr>
      </p:sp>
      <p:sp>
        <p:nvSpPr>
          <p:cNvPr id="9" name="Shape 7"/>
          <p:cNvSpPr/>
          <p:nvPr/>
        </p:nvSpPr>
        <p:spPr>
          <a:xfrm>
            <a:off x="6446520" y="1600200"/>
            <a:ext cx="502920" cy="502920"/>
          </a:xfrm>
          <a:prstGeom prst="ellipse">
            <a:avLst/>
          </a:prstGeom>
          <a:solidFill>
            <a:srgbClr val="0E9F8E"/>
          </a:solidFill>
          <a:ln w="12700">
            <a:solidFill>
              <a:srgbClr val="0E9F8E"/>
            </a:solidFill>
            <a:prstDash val="solid"/>
          </a:ln>
        </p:spPr>
      </p:sp>
      <p:sp>
        <p:nvSpPr>
          <p:cNvPr id="10" name="Text 8"/>
          <p:cNvSpPr txBox="1"/>
          <p:nvPr/>
        </p:nvSpPr>
        <p:spPr>
          <a:xfrm>
            <a:off x="644652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7086600" y="1600200"/>
            <a:ext cx="4251960" cy="502920"/>
          </a:xfrm>
          <a:prstGeom prst="rect">
            <a:avLst/>
          </a:prstGeom>
          <a:noFill/>
          <a:ln/>
        </p:spPr>
        <p:txBody>
          <a:bodyPr wrap="square" lIns="0" tIns="0" rIns="0" bIns="0" rtlCol="0" anchor="ctr"/>
          <a:lstStyle/>
          <a:p>
            <a:pPr indent="0" marL="0">
              <a:buNone/>
            </a:pPr>
            <a:r>
              <a:rPr lang="en-US" sz="1800" b="1" dirty="0">
                <a:solidFill>
                  <a:srgbClr val="10263F"/>
                </a:solidFill>
                <a:latin typeface="Calibri" pitchFamily="34" charset="0"/>
                <a:ea typeface="Calibri" pitchFamily="34" charset="-122"/>
                <a:cs typeface="Calibri" pitchFamily="34" charset="-120"/>
              </a:rPr>
              <a:t>Opname</a:t>
            </a:r>
            <a:endParaRPr lang="en-US" sz="1800" dirty="0"/>
          </a:p>
        </p:txBody>
      </p:sp>
      <p:sp>
        <p:nvSpPr>
          <p:cNvPr id="12" name="Text 10"/>
          <p:cNvSpPr txBox="1"/>
          <p:nvPr/>
        </p:nvSpPr>
        <p:spPr>
          <a:xfrm>
            <a:off x="6446520" y="2331720"/>
            <a:ext cx="4892040" cy="374904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Sleutels Gemini + ElevenLabs in .env, check met python -m scripts.check_kate_keys. Zonder sleutels: demomodus met browserstem.</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Elke opname op een verse server: tijdmachine en scène 4b veranderen de toestand.</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Neem elke scène apart op en monteer achteraf.</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Zet de app in de modus Mobiel (schakelaar rechtsonder).</a:t>
            </a:r>
            <a:endParaRPr lang="en-US" sz="1450" dirty="0"/>
          </a:p>
        </p:txBody>
      </p:sp>
      <p:sp>
        <p:nvSpPr>
          <p:cNvPr id="13" name="Text 11"/>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0E9F8E"/>
          </a:solidFill>
          <a:ln w="12700">
            <a:solidFill>
              <a:srgbClr val="0E9F8E"/>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0E9F8E"/>
                </a:solidFill>
                <a:latin typeface="Calibri" pitchFamily="34" charset="0"/>
                <a:ea typeface="Calibri" pitchFamily="34" charset="-122"/>
                <a:cs typeface="Calibri" pitchFamily="34" charset="-120"/>
              </a:rPr>
              <a:t>SCÈNE 1</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Zelfde app, andere Kate</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Emma ↔ Bram</a:t>
            </a:r>
            <a:endParaRPr lang="en-US" sz="1200" dirty="0"/>
          </a:p>
        </p:txBody>
      </p:sp>
      <p:sp>
        <p:nvSpPr>
          <p:cNvPr id="10" name="Text 8"/>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 twee telefoons naast elkaar</a:t>
            </a:r>
            <a:endParaRPr lang="en-US" sz="1000" dirty="0"/>
          </a:p>
        </p:txBody>
      </p:sp>
      <p:sp>
        <p:nvSpPr>
          <p:cNvPr id="11" name="Text 9"/>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2" name="Text 10"/>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Twee klanten, dezelfde app, een totaal andere Kate.</a:t>
            </a:r>
            <a:endParaRPr lang="en-US" sz="1500" dirty="0"/>
          </a:p>
        </p:txBody>
      </p:sp>
      <p:sp>
        <p:nvSpPr>
          <p:cNvPr id="13" name="Text 11"/>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4" name="Text 12"/>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Twee telefoons naast elkaar, elk met een eigen sessie. Links Emma, rechts Bram.</a:t>
            </a:r>
            <a:endParaRPr lang="en-US" sz="1300" dirty="0"/>
          </a:p>
        </p:txBody>
      </p:sp>
      <p:sp>
        <p:nvSpPr>
          <p:cNvPr id="15" name="Text 13"/>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6" name="Shape 14"/>
          <p:cNvSpPr/>
          <p:nvPr/>
        </p:nvSpPr>
        <p:spPr>
          <a:xfrm>
            <a:off x="548640" y="3703320"/>
            <a:ext cx="329184" cy="329184"/>
          </a:xfrm>
          <a:prstGeom prst="ellipse">
            <a:avLst/>
          </a:prstGeom>
          <a:solidFill>
            <a:srgbClr val="10263F"/>
          </a:solidFill>
          <a:ln w="12700">
            <a:solidFill>
              <a:srgbClr val="10263F"/>
            </a:solidFill>
            <a:prstDash val="solid"/>
          </a:ln>
        </p:spPr>
      </p:sp>
      <p:sp>
        <p:nvSpPr>
          <p:cNvPr id="17" name="Text 15"/>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8" name="Text 16"/>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Open de demo met twee telefoons (#76). Anders: gewoon venster (Emma) + incognitovenster (Bram), beide in Mobiel.</a:t>
            </a:r>
            <a:endParaRPr lang="en-US" sz="1250" dirty="0"/>
          </a:p>
        </p:txBody>
      </p:sp>
      <p:sp>
        <p:nvSpPr>
          <p:cNvPr id="19" name="Shape 17"/>
          <p:cNvSpPr/>
          <p:nvPr/>
        </p:nvSpPr>
        <p:spPr>
          <a:xfrm>
            <a:off x="548640" y="4361688"/>
            <a:ext cx="329184" cy="329184"/>
          </a:xfrm>
          <a:prstGeom prst="ellipse">
            <a:avLst/>
          </a:prstGeom>
          <a:solidFill>
            <a:srgbClr val="10263F"/>
          </a:solidFill>
          <a:ln w="12700">
            <a:solidFill>
              <a:srgbClr val="10263F"/>
            </a:solidFill>
            <a:prstDash val="solid"/>
          </a:ln>
        </p:spPr>
      </p:sp>
      <p:sp>
        <p:nvSpPr>
          <p:cNvPr id="20" name="Text 18"/>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Links: log in als Emma.</a:t>
            </a:r>
            <a:endParaRPr lang="en-US" sz="1250" dirty="0"/>
          </a:p>
        </p:txBody>
      </p:sp>
      <p:sp>
        <p:nvSpPr>
          <p:cNvPr id="22" name="Shape 20"/>
          <p:cNvSpPr/>
          <p:nvPr/>
        </p:nvSpPr>
        <p:spPr>
          <a:xfrm>
            <a:off x="548640" y="5020056"/>
            <a:ext cx="329184" cy="329184"/>
          </a:xfrm>
          <a:prstGeom prst="ellipse">
            <a:avLst/>
          </a:prstGeom>
          <a:solidFill>
            <a:srgbClr val="10263F"/>
          </a:solidFill>
          <a:ln w="12700">
            <a:solidFill>
              <a:srgbClr val="10263F"/>
            </a:solidFill>
            <a:prstDash val="solid"/>
          </a:ln>
        </p:spPr>
      </p:sp>
      <p:sp>
        <p:nvSpPr>
          <p:cNvPr id="23" name="Text 21"/>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4" name="Text 22"/>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Rechts: log in als Bram.</a:t>
            </a:r>
            <a:endParaRPr lang="en-US" sz="1250" dirty="0"/>
          </a:p>
        </p:txBody>
      </p:sp>
      <p:sp>
        <p:nvSpPr>
          <p:cNvPr id="25" name="Shape 23"/>
          <p:cNvSpPr/>
          <p:nvPr/>
        </p:nvSpPr>
        <p:spPr>
          <a:xfrm>
            <a:off x="548640" y="5678424"/>
            <a:ext cx="329184" cy="329184"/>
          </a:xfrm>
          <a:prstGeom prst="ellipse">
            <a:avLst/>
          </a:prstGeom>
          <a:solidFill>
            <a:srgbClr val="10263F"/>
          </a:solidFill>
          <a:ln w="12700">
            <a:solidFill>
              <a:srgbClr val="10263F"/>
            </a:solidFill>
            <a:prstDash val="solid"/>
          </a:ln>
        </p:spPr>
      </p:sp>
      <p:sp>
        <p:nvSpPr>
          <p:cNvPr id="26" name="Text 24"/>
          <p:cNvSpPr txBox="1"/>
          <p:nvPr/>
        </p:nvSpPr>
        <p:spPr>
          <a:xfrm>
            <a:off x="548640" y="5678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7" name="Text 25"/>
          <p:cNvSpPr txBox="1"/>
          <p:nvPr/>
        </p:nvSpPr>
        <p:spPr>
          <a:xfrm>
            <a:off x="1005840" y="5660136"/>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Laat beide homeschermen naast elkaar zien.</a:t>
            </a:r>
            <a:endParaRPr lang="en-US" sz="1250" dirty="0"/>
          </a:p>
        </p:txBody>
      </p:sp>
      <p:sp>
        <p:nvSpPr>
          <p:cNvPr id="28" name="Shape 26"/>
          <p:cNvSpPr/>
          <p:nvPr/>
        </p:nvSpPr>
        <p:spPr>
          <a:xfrm>
            <a:off x="6629400" y="1600200"/>
            <a:ext cx="5010912" cy="1645920"/>
          </a:xfrm>
          <a:prstGeom prst="roundRect">
            <a:avLst>
              <a:gd name="adj" fmla="val 6667"/>
            </a:avLst>
          </a:prstGeom>
          <a:solidFill>
            <a:srgbClr val="F3F5F8"/>
          </a:solidFill>
          <a:ln w="12700">
            <a:solidFill>
              <a:srgbClr val="F3F5F8"/>
            </a:solidFill>
            <a:prstDash val="solid"/>
          </a:ln>
        </p:spPr>
      </p:sp>
      <p:sp>
        <p:nvSpPr>
          <p:cNvPr id="29" name="Text 27"/>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OP HET SCHERM</a:t>
            </a:r>
            <a:endParaRPr lang="en-US" sz="1100" dirty="0"/>
          </a:p>
        </p:txBody>
      </p:sp>
      <p:sp>
        <p:nvSpPr>
          <p:cNvPr id="30" name="Text 28"/>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Emma: "Proficiat met je eerste loon!". Bram: geen reclame, maar een waarschuwing over zijn huur, met rode urgentiemeter en label Pushbericht.</a:t>
            </a:r>
            <a:endParaRPr lang="en-US" sz="1300" dirty="0"/>
          </a:p>
        </p:txBody>
      </p:sp>
      <p:sp>
        <p:nvSpPr>
          <p:cNvPr id="31" name="Shape 29"/>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2" name="Text 30"/>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3" name="Text 31"/>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“KBC's Kate herkent vandaag meer dan 140 situaties, en die zijn allemaal met de hand geschreven. Hier zie je twee klanten in dezelfde app, met een totaal andere Kate. Niemand heeft dit voor hen geschreven. Kate leidt het af uit wat ze zelf met hun geld doen.”</a:t>
            </a:r>
            <a:endParaRPr lang="en-US" sz="1650" dirty="0"/>
          </a:p>
        </p:txBody>
      </p:sp>
      <p:sp>
        <p:nvSpPr>
          <p:cNvPr id="35" name="Text 32"/>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0E9F8E"/>
          </a:solidFill>
          <a:ln w="12700">
            <a:solidFill>
              <a:srgbClr val="0E9F8E"/>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0E9F8E"/>
                </a:solidFill>
                <a:latin typeface="Calibri" pitchFamily="34" charset="0"/>
                <a:ea typeface="Calibri" pitchFamily="34" charset="-122"/>
                <a:cs typeface="Calibri" pitchFamily="34" charset="-120"/>
              </a:rPr>
              <a:t>SCÈNE 2</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Kate houdt zich bewust in</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Bram</a:t>
            </a:r>
            <a:endParaRPr lang="en-US" sz="1200" dirty="0"/>
          </a:p>
        </p:txBody>
      </p:sp>
      <p:sp>
        <p:nvSpPr>
          <p:cNvPr id="10" name="Shape 8"/>
          <p:cNvSpPr/>
          <p:nvPr/>
        </p:nvSpPr>
        <p:spPr>
          <a:xfrm>
            <a:off x="10332720" y="914400"/>
            <a:ext cx="1307592" cy="329184"/>
          </a:xfrm>
          <a:prstGeom prst="roundRect">
            <a:avLst>
              <a:gd name="adj" fmla="val 33333"/>
            </a:avLst>
          </a:prstGeom>
          <a:solidFill>
            <a:srgbClr val="FDECE9"/>
          </a:solidFill>
          <a:ln w="12700">
            <a:solidFill>
              <a:srgbClr val="FDECE9"/>
            </a:solidFill>
            <a:prstDash val="solid"/>
          </a:ln>
        </p:spPr>
      </p:sp>
      <p:sp>
        <p:nvSpPr>
          <p:cNvPr id="11" name="Text 9"/>
          <p:cNvSpPr txBox="1"/>
          <p:nvPr/>
        </p:nvSpPr>
        <p:spPr>
          <a:xfrm>
            <a:off x="10332720" y="914400"/>
            <a:ext cx="1307592" cy="329184"/>
          </a:xfrm>
          <a:prstGeom prst="rect">
            <a:avLst/>
          </a:prstGeom>
          <a:noFill/>
          <a:ln/>
        </p:spPr>
        <p:txBody>
          <a:bodyPr wrap="square" lIns="0" tIns="0" rIns="0" bIns="0" rtlCol="0" anchor="ctr"/>
          <a:lstStyle/>
          <a:p>
            <a:pPr algn="ctr" indent="0" marL="0">
              <a:buNone/>
            </a:pPr>
            <a:r>
              <a:rPr lang="en-US" sz="1100" b="1" dirty="0">
                <a:solidFill>
                  <a:srgbClr val="B23A28"/>
                </a:solidFill>
                <a:latin typeface="Calibri" pitchFamily="34" charset="0"/>
                <a:ea typeface="Calibri" pitchFamily="34" charset="-122"/>
                <a:cs typeface="Calibri" pitchFamily="34" charset="-120"/>
              </a:rPr>
              <a:t>Bewijs C</a:t>
            </a:r>
            <a:endParaRPr lang="en-US" sz="1100" dirty="0"/>
          </a:p>
        </p:txBody>
      </p:sp>
      <p:sp>
        <p:nvSpPr>
          <p:cNvPr id="12" name="Text 10"/>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 urgentiemeter, Pushbericht, "Bewust niet gezegd" (#60)</a:t>
            </a:r>
            <a:endParaRPr lang="en-US" sz="1000" dirty="0"/>
          </a:p>
        </p:txBody>
      </p:sp>
      <p:sp>
        <p:nvSpPr>
          <p:cNvPr id="13" name="Text 11"/>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4" name="Text 12"/>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Tonen dat Kate ook beslist wanneer ze moet zwijgen.</a:t>
            </a:r>
            <a:endParaRPr lang="en-US" sz="1500" dirty="0"/>
          </a:p>
        </p:txBody>
      </p:sp>
      <p:sp>
        <p:nvSpPr>
          <p:cNvPr id="15" name="Text 13"/>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6" name="Text 14"/>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Login bram: € 212,40 op zijn zichtrekening, € 720 huur.</a:t>
            </a:r>
            <a:endParaRPr lang="en-US" sz="1300" dirty="0"/>
          </a:p>
        </p:txBody>
      </p:sp>
      <p:sp>
        <p:nvSpPr>
          <p:cNvPr id="17" name="Text 15"/>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8" name="Shape 16"/>
          <p:cNvSpPr/>
          <p:nvPr/>
        </p:nvSpPr>
        <p:spPr>
          <a:xfrm>
            <a:off x="548640" y="3703320"/>
            <a:ext cx="329184" cy="329184"/>
          </a:xfrm>
          <a:prstGeom prst="ellipse">
            <a:avLst/>
          </a:prstGeom>
          <a:solidFill>
            <a:srgbClr val="10263F"/>
          </a:solidFill>
          <a:ln w="12700">
            <a:solidFill>
              <a:srgbClr val="10263F"/>
            </a:solidFill>
            <a:prstDash val="solid"/>
          </a:ln>
        </p:spPr>
      </p:sp>
      <p:sp>
        <p:nvSpPr>
          <p:cNvPr id="19" name="Text 17"/>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20" name="Text 18"/>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Open Waarom zie ik dit? op de huurkaart (bewijs C).</a:t>
            </a:r>
            <a:endParaRPr lang="en-US" sz="1250" dirty="0"/>
          </a:p>
        </p:txBody>
      </p:sp>
      <p:sp>
        <p:nvSpPr>
          <p:cNvPr id="21" name="Shape 19"/>
          <p:cNvSpPr/>
          <p:nvPr/>
        </p:nvSpPr>
        <p:spPr>
          <a:xfrm>
            <a:off x="548640" y="4361688"/>
            <a:ext cx="329184" cy="329184"/>
          </a:xfrm>
          <a:prstGeom prst="ellipse">
            <a:avLst/>
          </a:prstGeom>
          <a:solidFill>
            <a:srgbClr val="10263F"/>
          </a:solidFill>
          <a:ln w="12700">
            <a:solidFill>
              <a:srgbClr val="10263F"/>
            </a:solidFill>
            <a:prstDash val="solid"/>
          </a:ln>
        </p:spPr>
      </p:sp>
      <p:sp>
        <p:nvSpPr>
          <p:cNvPr id="22" name="Text 20"/>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3" name="Text 21"/>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Toon meteen de rekeninghistoriek: dezelfde bedragen.</a:t>
            </a:r>
            <a:endParaRPr lang="en-US" sz="1250" dirty="0"/>
          </a:p>
        </p:txBody>
      </p:sp>
      <p:sp>
        <p:nvSpPr>
          <p:cNvPr id="24" name="Shape 22"/>
          <p:cNvSpPr/>
          <p:nvPr/>
        </p:nvSpPr>
        <p:spPr>
          <a:xfrm>
            <a:off x="548640" y="5020056"/>
            <a:ext cx="329184" cy="329184"/>
          </a:xfrm>
          <a:prstGeom prst="ellipse">
            <a:avLst/>
          </a:prstGeom>
          <a:solidFill>
            <a:srgbClr val="10263F"/>
          </a:solidFill>
          <a:ln w="12700">
            <a:solidFill>
              <a:srgbClr val="10263F"/>
            </a:solidFill>
            <a:prstDash val="solid"/>
          </a:ln>
        </p:spPr>
      </p:sp>
      <p:sp>
        <p:nvSpPr>
          <p:cNvPr id="25" name="Text 23"/>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6" name="Text 24"/>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Klap "Bewust niet gezegd" open, onder de carrousel.</a:t>
            </a:r>
            <a:endParaRPr lang="en-US" sz="1250" dirty="0"/>
          </a:p>
        </p:txBody>
      </p:sp>
      <p:sp>
        <p:nvSpPr>
          <p:cNvPr id="27" name="Shape 25"/>
          <p:cNvSpPr/>
          <p:nvPr/>
        </p:nvSpPr>
        <p:spPr>
          <a:xfrm>
            <a:off x="6629400" y="1600200"/>
            <a:ext cx="5010912" cy="1645920"/>
          </a:xfrm>
          <a:prstGeom prst="roundRect">
            <a:avLst>
              <a:gd name="adj" fmla="val 6667"/>
            </a:avLst>
          </a:prstGeom>
          <a:solidFill>
            <a:srgbClr val="F3F5F8"/>
          </a:solidFill>
          <a:ln w="12700">
            <a:solidFill>
              <a:srgbClr val="F3F5F8"/>
            </a:solidFill>
            <a:prstDash val="solid"/>
          </a:ln>
        </p:spPr>
      </p:sp>
      <p:sp>
        <p:nvSpPr>
          <p:cNvPr id="28" name="Text 26"/>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OP HET SCHERM</a:t>
            </a:r>
            <a:endParaRPr lang="en-US" sz="1100" dirty="0"/>
          </a:p>
        </p:txBody>
      </p:sp>
      <p:sp>
        <p:nvSpPr>
          <p:cNvPr id="29" name="Text 27"/>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cashflow_risk, urgentie 91, via push. "Je zichtrekening staat op € 212,40, minder dan je grootste woonkost (€ 720,00)." Bewust niet gezegd: "Je saldo staat krap. Voorstellen die je geld kosten houden we daarom even voor ons; eerst je rekening."</a:t>
            </a:r>
            <a:endParaRPr lang="en-US" sz="1150" dirty="0"/>
          </a:p>
        </p:txBody>
      </p:sp>
      <p:sp>
        <p:nvSpPr>
          <p:cNvPr id="30" name="Shape 28"/>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1" name="Text 29"/>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2" name="Text 30"/>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“Wie veel herkent, kan ook veel spammen. Daarom beslist Kate niet alleen wát ze zegt, maar ook wanneer ze moet zwijgen. Zolang je buffer krap is, houdt ze een aanbod dat geld kost achter. Een voorstel dat je geld bespaart, houdt ze nooit achter.”</a:t>
            </a:r>
            <a:endParaRPr lang="en-US" sz="1650" dirty="0"/>
          </a:p>
        </p:txBody>
      </p:sp>
      <p:sp>
        <p:nvSpPr>
          <p:cNvPr id="34" name="Text 31"/>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0E9F8E"/>
          </a:solidFill>
          <a:ln w="12700">
            <a:solidFill>
              <a:srgbClr val="0E9F8E"/>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0E9F8E"/>
                </a:solidFill>
                <a:latin typeface="Calibri" pitchFamily="34" charset="0"/>
                <a:ea typeface="Calibri" pitchFamily="34" charset="-122"/>
                <a:cs typeface="Calibri" pitchFamily="34" charset="-120"/>
              </a:rPr>
              <a:t>SCÈNE 3</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Tijdmachine: het loon blijft uit</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Jan</a:t>
            </a:r>
            <a:endParaRPr lang="en-US" sz="1200" dirty="0"/>
          </a:p>
        </p:txBody>
      </p:sp>
      <p:sp>
        <p:nvSpPr>
          <p:cNvPr id="10" name="Shape 8"/>
          <p:cNvSpPr/>
          <p:nvPr/>
        </p:nvSpPr>
        <p:spPr>
          <a:xfrm>
            <a:off x="10332720" y="914400"/>
            <a:ext cx="1307592" cy="329184"/>
          </a:xfrm>
          <a:prstGeom prst="roundRect">
            <a:avLst>
              <a:gd name="adj" fmla="val 33333"/>
            </a:avLst>
          </a:prstGeom>
          <a:solidFill>
            <a:srgbClr val="FDECE9"/>
          </a:solidFill>
          <a:ln w="12700">
            <a:solidFill>
              <a:srgbClr val="FDECE9"/>
            </a:solidFill>
            <a:prstDash val="solid"/>
          </a:ln>
        </p:spPr>
      </p:sp>
      <p:sp>
        <p:nvSpPr>
          <p:cNvPr id="11" name="Text 9"/>
          <p:cNvSpPr txBox="1"/>
          <p:nvPr/>
        </p:nvSpPr>
        <p:spPr>
          <a:xfrm>
            <a:off x="10332720" y="914400"/>
            <a:ext cx="1307592" cy="329184"/>
          </a:xfrm>
          <a:prstGeom prst="rect">
            <a:avLst/>
          </a:prstGeom>
          <a:noFill/>
          <a:ln/>
        </p:spPr>
        <p:txBody>
          <a:bodyPr wrap="square" lIns="0" tIns="0" rIns="0" bIns="0" rtlCol="0" anchor="ctr"/>
          <a:lstStyle/>
          <a:p>
            <a:pPr algn="ctr" indent="0" marL="0">
              <a:buNone/>
            </a:pPr>
            <a:r>
              <a:rPr lang="en-US" sz="1100" b="1" dirty="0">
                <a:solidFill>
                  <a:srgbClr val="B23A28"/>
                </a:solidFill>
                <a:latin typeface="Calibri" pitchFamily="34" charset="0"/>
                <a:ea typeface="Calibri" pitchFamily="34" charset="-122"/>
                <a:cs typeface="Calibri" pitchFamily="34" charset="-120"/>
              </a:rPr>
              <a:t>Bewijs B</a:t>
            </a:r>
            <a:endParaRPr lang="en-US" sz="1100" dirty="0"/>
          </a:p>
        </p:txBody>
      </p:sp>
      <p:sp>
        <p:nvSpPr>
          <p:cNvPr id="12" name="Text 10"/>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 knoppen op /demo (#60) · ⚠️ zie route-probleem</a:t>
            </a:r>
            <a:endParaRPr lang="en-US" sz="1000" dirty="0"/>
          </a:p>
        </p:txBody>
      </p:sp>
      <p:sp>
        <p:nvSpPr>
          <p:cNvPr id="13" name="Text 11"/>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4" name="Text 12"/>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Juiste moment en juiste kanaal; zelfde klant, ander gedrag, andere Kate.</a:t>
            </a:r>
            <a:endParaRPr lang="en-US" sz="1500" dirty="0"/>
          </a:p>
        </p:txBody>
      </p:sp>
      <p:sp>
        <p:nvSpPr>
          <p:cNvPr id="15" name="Text 13"/>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6" name="Text 14"/>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Login jan (admin). Ga naar /demo (staat niet in het menu).</a:t>
            </a:r>
            <a:endParaRPr lang="en-US" sz="1300" dirty="0"/>
          </a:p>
        </p:txBody>
      </p:sp>
      <p:sp>
        <p:nvSpPr>
          <p:cNvPr id="17" name="Text 15"/>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8" name="Shape 16"/>
          <p:cNvSpPr/>
          <p:nvPr/>
        </p:nvSpPr>
        <p:spPr>
          <a:xfrm>
            <a:off x="548640" y="3703320"/>
            <a:ext cx="329184" cy="329184"/>
          </a:xfrm>
          <a:prstGeom prst="ellipse">
            <a:avLst/>
          </a:prstGeom>
          <a:solidFill>
            <a:srgbClr val="10263F"/>
          </a:solidFill>
          <a:ln w="12700">
            <a:solidFill>
              <a:srgbClr val="10263F"/>
            </a:solidFill>
            <a:prstDash val="solid"/>
          </a:ln>
        </p:spPr>
      </p:sp>
      <p:sp>
        <p:nvSpPr>
          <p:cNvPr id="19" name="Text 17"/>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20" name="Text 18"/>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Verse server: klik "+40 dagen · loon komt binnen". Kate blijft rustig.</a:t>
            </a:r>
            <a:endParaRPr lang="en-US" sz="1250" dirty="0"/>
          </a:p>
        </p:txBody>
      </p:sp>
      <p:sp>
        <p:nvSpPr>
          <p:cNvPr id="21" name="Shape 19"/>
          <p:cNvSpPr/>
          <p:nvPr/>
        </p:nvSpPr>
        <p:spPr>
          <a:xfrm>
            <a:off x="548640" y="4361688"/>
            <a:ext cx="329184" cy="329184"/>
          </a:xfrm>
          <a:prstGeom prst="ellipse">
            <a:avLst/>
          </a:prstGeom>
          <a:solidFill>
            <a:srgbClr val="10263F"/>
          </a:solidFill>
          <a:ln w="12700">
            <a:solidFill>
              <a:srgbClr val="10263F"/>
            </a:solidFill>
            <a:prstDash val="solid"/>
          </a:ln>
        </p:spPr>
      </p:sp>
      <p:sp>
        <p:nvSpPr>
          <p:cNvPr id="22" name="Text 20"/>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3" name="Text 21"/>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Knip. Verse server: klik "+40 dagen · loon blijft uit".</a:t>
            </a:r>
            <a:endParaRPr lang="en-US" sz="1250" dirty="0"/>
          </a:p>
        </p:txBody>
      </p:sp>
      <p:sp>
        <p:nvSpPr>
          <p:cNvPr id="24" name="Shape 22"/>
          <p:cNvSpPr/>
          <p:nvPr/>
        </p:nvSpPr>
        <p:spPr>
          <a:xfrm>
            <a:off x="548640" y="5020056"/>
            <a:ext cx="329184" cy="329184"/>
          </a:xfrm>
          <a:prstGeom prst="ellipse">
            <a:avLst/>
          </a:prstGeom>
          <a:solidFill>
            <a:srgbClr val="10263F"/>
          </a:solidFill>
          <a:ln w="12700">
            <a:solidFill>
              <a:srgbClr val="10263F"/>
            </a:solidFill>
            <a:prstDash val="solid"/>
          </a:ln>
        </p:spPr>
      </p:sp>
      <p:sp>
        <p:nvSpPr>
          <p:cNvPr id="25" name="Text 23"/>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6" name="Text 24"/>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De app springt terug naar home.</a:t>
            </a:r>
            <a:endParaRPr lang="en-US" sz="1250" dirty="0"/>
          </a:p>
        </p:txBody>
      </p:sp>
      <p:sp>
        <p:nvSpPr>
          <p:cNvPr id="27" name="Shape 25"/>
          <p:cNvSpPr/>
          <p:nvPr/>
        </p:nvSpPr>
        <p:spPr>
          <a:xfrm>
            <a:off x="548640" y="5678424"/>
            <a:ext cx="329184" cy="329184"/>
          </a:xfrm>
          <a:prstGeom prst="ellipse">
            <a:avLst/>
          </a:prstGeom>
          <a:solidFill>
            <a:srgbClr val="10263F"/>
          </a:solidFill>
          <a:ln w="12700">
            <a:solidFill>
              <a:srgbClr val="10263F"/>
            </a:solidFill>
            <a:prstDash val="solid"/>
          </a:ln>
        </p:spPr>
      </p:sp>
      <p:sp>
        <p:nvSpPr>
          <p:cNvPr id="28" name="Text 26"/>
          <p:cNvSpPr txBox="1"/>
          <p:nvPr/>
        </p:nvSpPr>
        <p:spPr>
          <a:xfrm>
            <a:off x="548640" y="5678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9" name="Text 27"/>
          <p:cNvSpPr txBox="1"/>
          <p:nvPr/>
        </p:nvSpPr>
        <p:spPr>
          <a:xfrm>
            <a:off x="1005840" y="5660136"/>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Toon de sms-melding en "Bewust niet gezegd" (de deal).</a:t>
            </a:r>
            <a:endParaRPr lang="en-US" sz="1250" dirty="0"/>
          </a:p>
        </p:txBody>
      </p:sp>
      <p:sp>
        <p:nvSpPr>
          <p:cNvPr id="30" name="Shape 28"/>
          <p:cNvSpPr/>
          <p:nvPr/>
        </p:nvSpPr>
        <p:spPr>
          <a:xfrm>
            <a:off x="6629400" y="1600200"/>
            <a:ext cx="5010912" cy="1645920"/>
          </a:xfrm>
          <a:prstGeom prst="roundRect">
            <a:avLst>
              <a:gd name="adj" fmla="val 6667"/>
            </a:avLst>
          </a:prstGeom>
          <a:solidFill>
            <a:srgbClr val="FEF4E2"/>
          </a:solidFill>
          <a:ln w="12700">
            <a:solidFill>
              <a:srgbClr val="FEF4E2"/>
            </a:solidFill>
            <a:prstDash val="solid"/>
          </a:ln>
        </p:spPr>
      </p:sp>
      <p:sp>
        <p:nvSpPr>
          <p:cNvPr id="31" name="Text 29"/>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B7791F"/>
                </a:solidFill>
                <a:latin typeface="Calibri" pitchFamily="34" charset="0"/>
                <a:ea typeface="Calibri" pitchFamily="34" charset="-122"/>
                <a:cs typeface="Calibri" pitchFamily="34" charset="-120"/>
              </a:rPr>
              <a:t>LET OP</a:t>
            </a:r>
            <a:endParaRPr lang="en-US" sz="1100" dirty="0"/>
          </a:p>
        </p:txBody>
      </p:sp>
      <p:sp>
        <p:nvSpPr>
          <p:cNvPr id="32" name="Text 30"/>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 Sinds #76 staat /demo twee keer in App.tsx (twee telefoons én tijdmachine). Test vóór de opname of de tijdmachine nog opent. Plan B: curl naar POST /api/v1/admin/time-machine.</a:t>
            </a:r>
            <a:endParaRPr lang="en-US" sz="1300" dirty="0"/>
          </a:p>
        </p:txBody>
      </p:sp>
      <p:sp>
        <p:nvSpPr>
          <p:cNvPr id="33" name="Shape 31"/>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4" name="Text 32"/>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5" name="Text 33"/>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“We spoelen veertig dagen vooruit. Komt Jans loon binnen, dan zwijgt Kate. Blijft het uit, dan stuurt ze geen kaartje in de app, maar een sms: het kanaal dat past bij de ernst. Dat gebeurt hoogstens één keer per week.”</a:t>
            </a:r>
            <a:endParaRPr lang="en-US" sz="1650" dirty="0"/>
          </a:p>
        </p:txBody>
      </p:sp>
      <p:sp>
        <p:nvSpPr>
          <p:cNvPr id="37" name="Text 34"/>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0E9F8E"/>
          </a:solidFill>
          <a:ln w="12700">
            <a:solidFill>
              <a:srgbClr val="0E9F8E"/>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0E9F8E"/>
                </a:solidFill>
                <a:latin typeface="Calibri" pitchFamily="34" charset="0"/>
                <a:ea typeface="Calibri" pitchFamily="34" charset="-122"/>
                <a:cs typeface="Calibri" pitchFamily="34" charset="-120"/>
              </a:rPr>
              <a:t>SCÈNE 4</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Een gewoonte automatiseren</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Sofie</a:t>
            </a:r>
            <a:endParaRPr lang="en-US" sz="1200" dirty="0"/>
          </a:p>
        </p:txBody>
      </p:sp>
      <p:sp>
        <p:nvSpPr>
          <p:cNvPr id="10" name="Text 8"/>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 drie kaarten met Bevestig (#46, #48)</a:t>
            </a:r>
            <a:endParaRPr lang="en-US" sz="1000" dirty="0"/>
          </a:p>
        </p:txBody>
      </p:sp>
      <p:sp>
        <p:nvSpPr>
          <p:cNvPr id="11" name="Text 9"/>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2" name="Text 10"/>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Kate werkt met de eigen cijfers van de klant, en stelt ook voor om minder te betalen.</a:t>
            </a:r>
            <a:endParaRPr lang="en-US" sz="1500" dirty="0"/>
          </a:p>
        </p:txBody>
      </p:sp>
      <p:sp>
        <p:nvSpPr>
          <p:cNvPr id="13" name="Text 11"/>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4" name="Text 12"/>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Login sofie. Drie kaarten, elk met Waarom zie ik dit?</a:t>
            </a:r>
            <a:endParaRPr lang="en-US" sz="1300" dirty="0"/>
          </a:p>
        </p:txBody>
      </p:sp>
      <p:sp>
        <p:nvSpPr>
          <p:cNvPr id="15" name="Text 13"/>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6" name="Shape 14"/>
          <p:cNvSpPr/>
          <p:nvPr/>
        </p:nvSpPr>
        <p:spPr>
          <a:xfrm>
            <a:off x="548640" y="3703320"/>
            <a:ext cx="329184" cy="329184"/>
          </a:xfrm>
          <a:prstGeom prst="ellipse">
            <a:avLst/>
          </a:prstGeom>
          <a:solidFill>
            <a:srgbClr val="10263F"/>
          </a:solidFill>
          <a:ln w="12700">
            <a:solidFill>
              <a:srgbClr val="10263F"/>
            </a:solidFill>
            <a:prstDash val="solid"/>
          </a:ln>
        </p:spPr>
      </p:sp>
      <p:sp>
        <p:nvSpPr>
          <p:cNvPr id="17" name="Text 15"/>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8" name="Text 16"/>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"Je zet al 4 maanden zelf geld opzij, meestal € 250." → vaste opdracht met háár bedrag en dag.</a:t>
            </a:r>
            <a:endParaRPr lang="en-US" sz="1250" dirty="0"/>
          </a:p>
        </p:txBody>
      </p:sp>
      <p:sp>
        <p:nvSpPr>
          <p:cNvPr id="19" name="Shape 17"/>
          <p:cNvSpPr/>
          <p:nvPr/>
        </p:nvSpPr>
        <p:spPr>
          <a:xfrm>
            <a:off x="548640" y="4361688"/>
            <a:ext cx="329184" cy="329184"/>
          </a:xfrm>
          <a:prstGeom prst="ellipse">
            <a:avLst/>
          </a:prstGeom>
          <a:solidFill>
            <a:srgbClr val="10263F"/>
          </a:solidFill>
          <a:ln w="12700">
            <a:solidFill>
              <a:srgbClr val="10263F"/>
            </a:solidFill>
            <a:prstDash val="solid"/>
          </a:ln>
        </p:spPr>
      </p:sp>
      <p:sp>
        <p:nvSpPr>
          <p:cNvPr id="20" name="Text 18"/>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"Het Luxepakket kost je € 300,00 per jaar, maar we zien geen reizen."</a:t>
            </a:r>
            <a:endParaRPr lang="en-US" sz="1250" dirty="0"/>
          </a:p>
        </p:txBody>
      </p:sp>
      <p:sp>
        <p:nvSpPr>
          <p:cNvPr id="22" name="Shape 20"/>
          <p:cNvSpPr/>
          <p:nvPr/>
        </p:nvSpPr>
        <p:spPr>
          <a:xfrm>
            <a:off x="548640" y="5020056"/>
            <a:ext cx="329184" cy="329184"/>
          </a:xfrm>
          <a:prstGeom prst="ellipse">
            <a:avLst/>
          </a:prstGeom>
          <a:solidFill>
            <a:srgbClr val="10263F"/>
          </a:solidFill>
          <a:ln w="12700">
            <a:solidFill>
              <a:srgbClr val="10263F"/>
            </a:solidFill>
            <a:prstDash val="solid"/>
          </a:ln>
        </p:spPr>
      </p:sp>
      <p:sp>
        <p:nvSpPr>
          <p:cNvPr id="23" name="Text 21"/>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4" name="Text 22"/>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Deal bij het tankstation waar ze elke week komt.</a:t>
            </a:r>
            <a:endParaRPr lang="en-US" sz="1250" dirty="0"/>
          </a:p>
        </p:txBody>
      </p:sp>
      <p:sp>
        <p:nvSpPr>
          <p:cNvPr id="25" name="Shape 23"/>
          <p:cNvSpPr/>
          <p:nvPr/>
        </p:nvSpPr>
        <p:spPr>
          <a:xfrm>
            <a:off x="548640" y="5678424"/>
            <a:ext cx="329184" cy="329184"/>
          </a:xfrm>
          <a:prstGeom prst="ellipse">
            <a:avLst/>
          </a:prstGeom>
          <a:solidFill>
            <a:srgbClr val="10263F"/>
          </a:solidFill>
          <a:ln w="12700">
            <a:solidFill>
              <a:srgbClr val="10263F"/>
            </a:solidFill>
            <a:prstDash val="solid"/>
          </a:ln>
        </p:spPr>
      </p:sp>
      <p:sp>
        <p:nvSpPr>
          <p:cNvPr id="26" name="Text 24"/>
          <p:cNvSpPr txBox="1"/>
          <p:nvPr/>
        </p:nvSpPr>
        <p:spPr>
          <a:xfrm>
            <a:off x="548640" y="5678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7" name="Text 25"/>
          <p:cNvSpPr txBox="1"/>
          <p:nvPr/>
        </p:nvSpPr>
        <p:spPr>
          <a:xfrm>
            <a:off x="1005840" y="5660136"/>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Klik Bevestig op de spaaropdracht → toon "Wat heeft Kate voor mij gedaan?"</a:t>
            </a:r>
            <a:endParaRPr lang="en-US" sz="1250" dirty="0"/>
          </a:p>
        </p:txBody>
      </p:sp>
      <p:sp>
        <p:nvSpPr>
          <p:cNvPr id="28" name="Shape 26"/>
          <p:cNvSpPr/>
          <p:nvPr/>
        </p:nvSpPr>
        <p:spPr>
          <a:xfrm>
            <a:off x="6629400" y="1600200"/>
            <a:ext cx="5010912" cy="1645920"/>
          </a:xfrm>
          <a:prstGeom prst="roundRect">
            <a:avLst>
              <a:gd name="adj" fmla="val 6667"/>
            </a:avLst>
          </a:prstGeom>
          <a:solidFill>
            <a:srgbClr val="F3F5F8"/>
          </a:solidFill>
          <a:ln w="12700">
            <a:solidFill>
              <a:srgbClr val="F3F5F8"/>
            </a:solidFill>
            <a:prstDash val="solid"/>
          </a:ln>
        </p:spPr>
      </p:sp>
      <p:sp>
        <p:nvSpPr>
          <p:cNvPr id="29" name="Text 27"/>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OP HET SCHERM</a:t>
            </a:r>
            <a:endParaRPr lang="en-US" sz="1100" dirty="0"/>
          </a:p>
        </p:txBody>
      </p:sp>
      <p:sp>
        <p:nvSpPr>
          <p:cNvPr id="30" name="Text 28"/>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Drie kaarten met Bevestig-knop. Na Bevestig staat de actie in "Wat heeft Kate voor mij gedaan?"</a:t>
            </a:r>
            <a:endParaRPr lang="en-US" sz="1300" dirty="0"/>
          </a:p>
        </p:txBody>
      </p:sp>
      <p:sp>
        <p:nvSpPr>
          <p:cNvPr id="31" name="Shape 29"/>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2" name="Text 30"/>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3" name="Text 31"/>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“Sofie spaart al, maar ze doet het elke maand met de hand. Kate zet dat om in een vaste opdracht, met haar eigen cijfers. Ze ziet ook dat Sofie betaalt voor een reispakket zonder te reizen, en zegt het haar. Eén tik, en de klant beslist zelf.”</a:t>
            </a:r>
            <a:endParaRPr lang="en-US" sz="1650" dirty="0"/>
          </a:p>
        </p:txBody>
      </p:sp>
      <p:sp>
        <p:nvSpPr>
          <p:cNvPr id="35" name="Text 32"/>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E8604C"/>
          </a:solidFill>
          <a:ln w="12700">
            <a:solidFill>
              <a:srgbClr val="E8604C"/>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4b</a:t>
            </a:r>
            <a:endParaRPr lang="en-US" sz="24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E8604C"/>
                </a:solidFill>
                <a:latin typeface="Calibri" pitchFamily="34" charset="0"/>
                <a:ea typeface="Calibri" pitchFamily="34" charset="-122"/>
                <a:cs typeface="Calibri" pitchFamily="34" charset="-120"/>
              </a:rPr>
              <a:t>SCÈNE 4b</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Bewijs: Sofie verandert, Kate verandert mee</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Sofie</a:t>
            </a:r>
            <a:endParaRPr lang="en-US" sz="1200" dirty="0"/>
          </a:p>
        </p:txBody>
      </p:sp>
      <p:sp>
        <p:nvSpPr>
          <p:cNvPr id="10" name="Shape 8"/>
          <p:cNvSpPr/>
          <p:nvPr/>
        </p:nvSpPr>
        <p:spPr>
          <a:xfrm>
            <a:off x="10332720" y="914400"/>
            <a:ext cx="1307592" cy="329184"/>
          </a:xfrm>
          <a:prstGeom prst="roundRect">
            <a:avLst>
              <a:gd name="adj" fmla="val 33333"/>
            </a:avLst>
          </a:prstGeom>
          <a:solidFill>
            <a:srgbClr val="FDECE9"/>
          </a:solidFill>
          <a:ln w="12700">
            <a:solidFill>
              <a:srgbClr val="FDECE9"/>
            </a:solidFill>
            <a:prstDash val="solid"/>
          </a:ln>
        </p:spPr>
      </p:sp>
      <p:sp>
        <p:nvSpPr>
          <p:cNvPr id="11" name="Text 9"/>
          <p:cNvSpPr txBox="1"/>
          <p:nvPr/>
        </p:nvSpPr>
        <p:spPr>
          <a:xfrm>
            <a:off x="10332720" y="914400"/>
            <a:ext cx="1307592" cy="329184"/>
          </a:xfrm>
          <a:prstGeom prst="rect">
            <a:avLst/>
          </a:prstGeom>
          <a:noFill/>
          <a:ln/>
        </p:spPr>
        <p:txBody>
          <a:bodyPr wrap="square" lIns="0" tIns="0" rIns="0" bIns="0" rtlCol="0" anchor="ctr"/>
          <a:lstStyle/>
          <a:p>
            <a:pPr algn="ctr" indent="0" marL="0">
              <a:buNone/>
            </a:pPr>
            <a:r>
              <a:rPr lang="en-US" sz="1100" b="1" dirty="0">
                <a:solidFill>
                  <a:srgbClr val="B23A28"/>
                </a:solidFill>
                <a:latin typeface="Calibri" pitchFamily="34" charset="0"/>
                <a:ea typeface="Calibri" pitchFamily="34" charset="-122"/>
                <a:cs typeface="Calibri" pitchFamily="34" charset="-120"/>
              </a:rPr>
              <a:t>Bewijs A</a:t>
            </a:r>
            <a:endParaRPr lang="en-US" sz="1100" dirty="0"/>
          </a:p>
        </p:txBody>
      </p:sp>
      <p:sp>
        <p:nvSpPr>
          <p:cNvPr id="12" name="Text 10"/>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 live overschrijving (nagekeken)</a:t>
            </a:r>
            <a:endParaRPr lang="en-US" sz="1000" dirty="0"/>
          </a:p>
        </p:txBody>
      </p:sp>
      <p:sp>
        <p:nvSpPr>
          <p:cNvPr id="13" name="Text 11"/>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4" name="Text 12"/>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Bewijzen dat Kate meeverandert als het gedrag verandert, zonder de code aan te raken.</a:t>
            </a:r>
            <a:endParaRPr lang="en-US" sz="1500" dirty="0"/>
          </a:p>
        </p:txBody>
      </p:sp>
      <p:sp>
        <p:nvSpPr>
          <p:cNvPr id="15" name="Text 13"/>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6" name="Text 14"/>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Aparte opname op een verse server, zonder eerst op Bevestig te klikken. Login sofie.</a:t>
            </a:r>
            <a:endParaRPr lang="en-US" sz="1300" dirty="0"/>
          </a:p>
        </p:txBody>
      </p:sp>
      <p:sp>
        <p:nvSpPr>
          <p:cNvPr id="17" name="Text 15"/>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8" name="Shape 16"/>
          <p:cNvSpPr/>
          <p:nvPr/>
        </p:nvSpPr>
        <p:spPr>
          <a:xfrm>
            <a:off x="548640" y="3703320"/>
            <a:ext cx="329184" cy="329184"/>
          </a:xfrm>
          <a:prstGeom prst="ellipse">
            <a:avLst/>
          </a:prstGeom>
          <a:solidFill>
            <a:srgbClr val="10263F"/>
          </a:solidFill>
          <a:ln w="12700">
            <a:solidFill>
              <a:srgbClr val="10263F"/>
            </a:solidFill>
            <a:prstDash val="solid"/>
          </a:ln>
        </p:spPr>
      </p:sp>
      <p:sp>
        <p:nvSpPr>
          <p:cNvPr id="19" name="Text 17"/>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20" name="Text 18"/>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Ga naar Overschrijving.</a:t>
            </a:r>
            <a:endParaRPr lang="en-US" sz="1250" dirty="0"/>
          </a:p>
        </p:txBody>
      </p:sp>
      <p:sp>
        <p:nvSpPr>
          <p:cNvPr id="21" name="Shape 19"/>
          <p:cNvSpPr/>
          <p:nvPr/>
        </p:nvSpPr>
        <p:spPr>
          <a:xfrm>
            <a:off x="548640" y="4361688"/>
            <a:ext cx="329184" cy="329184"/>
          </a:xfrm>
          <a:prstGeom prst="ellipse">
            <a:avLst/>
          </a:prstGeom>
          <a:solidFill>
            <a:srgbClr val="10263F"/>
          </a:solidFill>
          <a:ln w="12700">
            <a:solidFill>
              <a:srgbClr val="10263F"/>
            </a:solidFill>
            <a:prstDash val="solid"/>
          </a:ln>
        </p:spPr>
      </p:sp>
      <p:sp>
        <p:nvSpPr>
          <p:cNvPr id="22" name="Text 20"/>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3" name="Text 21"/>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Zet € 400 van haar spaarrekening naar haar zichtrekening.</a:t>
            </a:r>
            <a:endParaRPr lang="en-US" sz="1250" dirty="0"/>
          </a:p>
        </p:txBody>
      </p:sp>
      <p:sp>
        <p:nvSpPr>
          <p:cNvPr id="24" name="Shape 22"/>
          <p:cNvSpPr/>
          <p:nvPr/>
        </p:nvSpPr>
        <p:spPr>
          <a:xfrm>
            <a:off x="548640" y="5020056"/>
            <a:ext cx="329184" cy="329184"/>
          </a:xfrm>
          <a:prstGeom prst="ellipse">
            <a:avLst/>
          </a:prstGeom>
          <a:solidFill>
            <a:srgbClr val="10263F"/>
          </a:solidFill>
          <a:ln w="12700">
            <a:solidFill>
              <a:srgbClr val="10263F"/>
            </a:solidFill>
            <a:prstDash val="solid"/>
          </a:ln>
        </p:spPr>
      </p:sp>
      <p:sp>
        <p:nvSpPr>
          <p:cNvPr id="25" name="Text 23"/>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6" name="Text 24"/>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Ga terug naar home.</a:t>
            </a:r>
            <a:endParaRPr lang="en-US" sz="1250" dirty="0"/>
          </a:p>
        </p:txBody>
      </p:sp>
      <p:sp>
        <p:nvSpPr>
          <p:cNvPr id="27" name="Shape 25"/>
          <p:cNvSpPr/>
          <p:nvPr/>
        </p:nvSpPr>
        <p:spPr>
          <a:xfrm>
            <a:off x="548640" y="5678424"/>
            <a:ext cx="329184" cy="329184"/>
          </a:xfrm>
          <a:prstGeom prst="ellipse">
            <a:avLst/>
          </a:prstGeom>
          <a:solidFill>
            <a:srgbClr val="10263F"/>
          </a:solidFill>
          <a:ln w="12700">
            <a:solidFill>
              <a:srgbClr val="10263F"/>
            </a:solidFill>
            <a:prstDash val="solid"/>
          </a:ln>
        </p:spPr>
      </p:sp>
      <p:sp>
        <p:nvSpPr>
          <p:cNvPr id="28" name="Text 26"/>
          <p:cNvSpPr txBox="1"/>
          <p:nvPr/>
        </p:nvSpPr>
        <p:spPr>
          <a:xfrm>
            <a:off x="548640" y="5678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9" name="Text 27"/>
          <p:cNvSpPr txBox="1"/>
          <p:nvPr/>
        </p:nvSpPr>
        <p:spPr>
          <a:xfrm>
            <a:off x="1005840" y="5660136"/>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Toon: de spaarkaart is weg, Luxepakket en deal blijven.</a:t>
            </a:r>
            <a:endParaRPr lang="en-US" sz="1250" dirty="0"/>
          </a:p>
        </p:txBody>
      </p:sp>
      <p:sp>
        <p:nvSpPr>
          <p:cNvPr id="30" name="Shape 28"/>
          <p:cNvSpPr/>
          <p:nvPr/>
        </p:nvSpPr>
        <p:spPr>
          <a:xfrm>
            <a:off x="6629400" y="1600200"/>
            <a:ext cx="5010912" cy="1645920"/>
          </a:xfrm>
          <a:prstGeom prst="roundRect">
            <a:avLst>
              <a:gd name="adj" fmla="val 6667"/>
            </a:avLst>
          </a:prstGeom>
          <a:solidFill>
            <a:srgbClr val="F3F5F8"/>
          </a:solidFill>
          <a:ln w="12700">
            <a:solidFill>
              <a:srgbClr val="F3F5F8"/>
            </a:solidFill>
            <a:prstDash val="solid"/>
          </a:ln>
        </p:spPr>
      </p:sp>
      <p:sp>
        <p:nvSpPr>
          <p:cNvPr id="31" name="Text 29"/>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OP HET SCHERM</a:t>
            </a:r>
            <a:endParaRPr lang="en-US" sz="1100" dirty="0"/>
          </a:p>
        </p:txBody>
      </p:sp>
      <p:sp>
        <p:nvSpPr>
          <p:cNvPr id="32" name="Text 30"/>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"Wil je dit automatisch laten doen?" is weg. Nagekeken: de overschrijving geeft 201, de feed gaat van drie naar twee kaarten.</a:t>
            </a:r>
            <a:endParaRPr lang="en-US" sz="1300" dirty="0"/>
          </a:p>
        </p:txBody>
      </p:sp>
      <p:sp>
        <p:nvSpPr>
          <p:cNvPr id="33" name="Shape 31"/>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4" name="Text 32"/>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5" name="Text 33"/>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“We raken niets aan in de code. Sofie haalt geld van haar spaarrekening. Kate ziet dat ze dat geld nu nodig heeft, en stelt niet langer voor om het vast te zetten.”</a:t>
            </a:r>
            <a:endParaRPr lang="en-US" sz="1650" dirty="0"/>
          </a:p>
        </p:txBody>
      </p:sp>
      <p:sp>
        <p:nvSpPr>
          <p:cNvPr id="37" name="Text 34"/>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0E9F8E"/>
          </a:solidFill>
          <a:ln w="12700">
            <a:solidFill>
              <a:srgbClr val="0E9F8E"/>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0E9F8E"/>
                </a:solidFill>
                <a:latin typeface="Calibri" pitchFamily="34" charset="0"/>
                <a:ea typeface="Calibri" pitchFamily="34" charset="-122"/>
                <a:cs typeface="Calibri" pitchFamily="34" charset="-120"/>
              </a:rPr>
              <a:t>SCÈNE 5</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Just say it</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Emma</a:t>
            </a:r>
            <a:endParaRPr lang="en-US" sz="1200" dirty="0"/>
          </a:p>
        </p:txBody>
      </p:sp>
      <p:sp>
        <p:nvSpPr>
          <p:cNvPr id="10" name="Text 8"/>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a:t>
            </a:r>
            <a:endParaRPr lang="en-US" sz="1000" dirty="0"/>
          </a:p>
        </p:txBody>
      </p:sp>
      <p:sp>
        <p:nvSpPr>
          <p:cNvPr id="11" name="Text 9"/>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2" name="Text 10"/>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Eén zin vervangt vijf schermen; de klant bevestigt altijd zelf.</a:t>
            </a:r>
            <a:endParaRPr lang="en-US" sz="1500" dirty="0"/>
          </a:p>
        </p:txBody>
      </p:sp>
      <p:sp>
        <p:nvSpPr>
          <p:cNvPr id="13" name="Text 11"/>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4" name="Text 12"/>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Login emma.</a:t>
            </a:r>
            <a:endParaRPr lang="en-US" sz="1300" dirty="0"/>
          </a:p>
        </p:txBody>
      </p:sp>
      <p:sp>
        <p:nvSpPr>
          <p:cNvPr id="15" name="Text 13"/>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6" name="Shape 14"/>
          <p:cNvSpPr/>
          <p:nvPr/>
        </p:nvSpPr>
        <p:spPr>
          <a:xfrm>
            <a:off x="548640" y="3703320"/>
            <a:ext cx="329184" cy="329184"/>
          </a:xfrm>
          <a:prstGeom prst="ellipse">
            <a:avLst/>
          </a:prstGeom>
          <a:solidFill>
            <a:srgbClr val="10263F"/>
          </a:solidFill>
          <a:ln w="12700">
            <a:solidFill>
              <a:srgbClr val="10263F"/>
            </a:solidFill>
            <a:prstDash val="solid"/>
          </a:ln>
        </p:spPr>
      </p:sp>
      <p:sp>
        <p:nvSpPr>
          <p:cNvPr id="17" name="Text 15"/>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8" name="Text 16"/>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Open Kate.</a:t>
            </a:r>
            <a:endParaRPr lang="en-US" sz="1250" dirty="0"/>
          </a:p>
        </p:txBody>
      </p:sp>
      <p:sp>
        <p:nvSpPr>
          <p:cNvPr id="19" name="Shape 17"/>
          <p:cNvSpPr/>
          <p:nvPr/>
        </p:nvSpPr>
        <p:spPr>
          <a:xfrm>
            <a:off x="548640" y="4361688"/>
            <a:ext cx="329184" cy="329184"/>
          </a:xfrm>
          <a:prstGeom prst="ellipse">
            <a:avLst/>
          </a:prstGeom>
          <a:solidFill>
            <a:srgbClr val="10263F"/>
          </a:solidFill>
          <a:ln w="12700">
            <a:solidFill>
              <a:srgbClr val="10263F"/>
            </a:solidFill>
            <a:prstDash val="solid"/>
          </a:ln>
        </p:spPr>
      </p:sp>
      <p:sp>
        <p:nvSpPr>
          <p:cNvPr id="20" name="Text 18"/>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Typ of zeg: "Stuur Lucas 25 euro voor de pizza".</a:t>
            </a:r>
            <a:endParaRPr lang="en-US" sz="1250" dirty="0"/>
          </a:p>
        </p:txBody>
      </p:sp>
      <p:sp>
        <p:nvSpPr>
          <p:cNvPr id="22" name="Shape 20"/>
          <p:cNvSpPr/>
          <p:nvPr/>
        </p:nvSpPr>
        <p:spPr>
          <a:xfrm>
            <a:off x="548640" y="5020056"/>
            <a:ext cx="329184" cy="329184"/>
          </a:xfrm>
          <a:prstGeom prst="ellipse">
            <a:avLst/>
          </a:prstGeom>
          <a:solidFill>
            <a:srgbClr val="10263F"/>
          </a:solidFill>
          <a:ln w="12700">
            <a:solidFill>
              <a:srgbClr val="10263F"/>
            </a:solidFill>
            <a:prstDash val="solid"/>
          </a:ln>
        </p:spPr>
      </p:sp>
      <p:sp>
        <p:nvSpPr>
          <p:cNvPr id="23" name="Text 21"/>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4" name="Text 22"/>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Het gewone overschrijvingsscherm opent, al ingevuld.</a:t>
            </a:r>
            <a:endParaRPr lang="en-US" sz="1250" dirty="0"/>
          </a:p>
        </p:txBody>
      </p:sp>
      <p:sp>
        <p:nvSpPr>
          <p:cNvPr id="25" name="Shape 23"/>
          <p:cNvSpPr/>
          <p:nvPr/>
        </p:nvSpPr>
        <p:spPr>
          <a:xfrm>
            <a:off x="548640" y="5678424"/>
            <a:ext cx="329184" cy="329184"/>
          </a:xfrm>
          <a:prstGeom prst="ellipse">
            <a:avLst/>
          </a:prstGeom>
          <a:solidFill>
            <a:srgbClr val="10263F"/>
          </a:solidFill>
          <a:ln w="12700">
            <a:solidFill>
              <a:srgbClr val="10263F"/>
            </a:solidFill>
            <a:prstDash val="solid"/>
          </a:ln>
        </p:spPr>
      </p:sp>
      <p:sp>
        <p:nvSpPr>
          <p:cNvPr id="26" name="Text 24"/>
          <p:cNvSpPr txBox="1"/>
          <p:nvPr/>
        </p:nvSpPr>
        <p:spPr>
          <a:xfrm>
            <a:off x="548640" y="5678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7" name="Text 25"/>
          <p:cNvSpPr txBox="1"/>
          <p:nvPr/>
        </p:nvSpPr>
        <p:spPr>
          <a:xfrm>
            <a:off x="1005840" y="5660136"/>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Emma bevestigt zelf.</a:t>
            </a:r>
            <a:endParaRPr lang="en-US" sz="1250" dirty="0"/>
          </a:p>
        </p:txBody>
      </p:sp>
      <p:sp>
        <p:nvSpPr>
          <p:cNvPr id="28" name="Shape 26"/>
          <p:cNvSpPr/>
          <p:nvPr/>
        </p:nvSpPr>
        <p:spPr>
          <a:xfrm>
            <a:off x="6629400" y="1600200"/>
            <a:ext cx="5010912" cy="1645920"/>
          </a:xfrm>
          <a:prstGeom prst="roundRect">
            <a:avLst>
              <a:gd name="adj" fmla="val 6667"/>
            </a:avLst>
          </a:prstGeom>
          <a:solidFill>
            <a:srgbClr val="F3F5F8"/>
          </a:solidFill>
          <a:ln w="12700">
            <a:solidFill>
              <a:srgbClr val="F3F5F8"/>
            </a:solidFill>
            <a:prstDash val="solid"/>
          </a:ln>
        </p:spPr>
      </p:sp>
      <p:sp>
        <p:nvSpPr>
          <p:cNvPr id="29" name="Text 27"/>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OP HET SCHERM</a:t>
            </a:r>
            <a:endParaRPr lang="en-US" sz="1100" dirty="0"/>
          </a:p>
        </p:txBody>
      </p:sp>
      <p:sp>
        <p:nvSpPr>
          <p:cNvPr id="30" name="Text 28"/>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Kate: "Ik heb een overschrijving van € 25,00 naar Lucas klaargezet. Controleer ze en bevestig zelf."</a:t>
            </a:r>
            <a:endParaRPr lang="en-US" sz="1300" dirty="0"/>
          </a:p>
        </p:txBody>
      </p:sp>
      <p:sp>
        <p:nvSpPr>
          <p:cNvPr id="31" name="Shape 29"/>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2" name="Text 30"/>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3" name="Text 31"/>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“Eén zin in plaats van vijf schermen. Kate vult alles in, maar betaalt zelf nooit aan iemand anders. De klant bevestigt op het gewone, gevalideerde scherm.”</a:t>
            </a:r>
            <a:endParaRPr lang="en-US" sz="1650" dirty="0"/>
          </a:p>
        </p:txBody>
      </p:sp>
      <p:sp>
        <p:nvSpPr>
          <p:cNvPr id="35" name="Text 32"/>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0E9F8E"/>
          </a:solidFill>
          <a:ln w="12700">
            <a:solidFill>
              <a:srgbClr val="0E9F8E"/>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0E9F8E"/>
                </a:solidFill>
                <a:latin typeface="Calibri" pitchFamily="34" charset="0"/>
                <a:ea typeface="Calibri" pitchFamily="34" charset="-122"/>
                <a:cs typeface="Calibri" pitchFamily="34" charset="-120"/>
              </a:rPr>
              <a:t>SCÈNE 6</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Erfenis: begeleiden i.p.v. verkopen</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Els</a:t>
            </a:r>
            <a:endParaRPr lang="en-US" sz="1200" dirty="0"/>
          </a:p>
        </p:txBody>
      </p:sp>
      <p:sp>
        <p:nvSpPr>
          <p:cNvPr id="10" name="Text 8"/>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 lege feed, begeleidingsmodus, stem</a:t>
            </a:r>
            <a:endParaRPr lang="en-US" sz="1000" dirty="0"/>
          </a:p>
        </p:txBody>
      </p:sp>
      <p:sp>
        <p:nvSpPr>
          <p:cNvPr id="11" name="Text 9"/>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2" name="Text 10"/>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Kate weet wanneer een bank níét moet verkopen, en schakelt een mens in.</a:t>
            </a:r>
            <a:endParaRPr lang="en-US" sz="1500" dirty="0"/>
          </a:p>
        </p:txBody>
      </p:sp>
      <p:sp>
        <p:nvSpPr>
          <p:cNvPr id="13" name="Text 11"/>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4" name="Text 12"/>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Login els. Historiek: uitvaart, notaris, uitkering van de nalatenschap.</a:t>
            </a:r>
            <a:endParaRPr lang="en-US" sz="1300" dirty="0"/>
          </a:p>
        </p:txBody>
      </p:sp>
      <p:sp>
        <p:nvSpPr>
          <p:cNvPr id="15" name="Text 13"/>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6" name="Shape 14"/>
          <p:cNvSpPr/>
          <p:nvPr/>
        </p:nvSpPr>
        <p:spPr>
          <a:xfrm>
            <a:off x="548640" y="3703320"/>
            <a:ext cx="329184" cy="329184"/>
          </a:xfrm>
          <a:prstGeom prst="ellipse">
            <a:avLst/>
          </a:prstGeom>
          <a:solidFill>
            <a:srgbClr val="10263F"/>
          </a:solidFill>
          <a:ln w="12700">
            <a:solidFill>
              <a:srgbClr val="10263F"/>
            </a:solidFill>
            <a:prstDash val="solid"/>
          </a:ln>
        </p:spPr>
      </p:sp>
      <p:sp>
        <p:nvSpPr>
          <p:cNvPr id="17" name="Text 15"/>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8" name="Text 16"/>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Toon eerst dat de feed van Els leeg is.</a:t>
            </a:r>
            <a:endParaRPr lang="en-US" sz="1250" dirty="0"/>
          </a:p>
        </p:txBody>
      </p:sp>
      <p:sp>
        <p:nvSpPr>
          <p:cNvPr id="19" name="Shape 17"/>
          <p:cNvSpPr/>
          <p:nvPr/>
        </p:nvSpPr>
        <p:spPr>
          <a:xfrm>
            <a:off x="548640" y="4361688"/>
            <a:ext cx="329184" cy="329184"/>
          </a:xfrm>
          <a:prstGeom prst="ellipse">
            <a:avLst/>
          </a:prstGeom>
          <a:solidFill>
            <a:srgbClr val="10263F"/>
          </a:solidFill>
          <a:ln w="12700">
            <a:solidFill>
              <a:srgbClr val="10263F"/>
            </a:solidFill>
            <a:prstDash val="solid"/>
          </a:ln>
        </p:spPr>
      </p:sp>
      <p:sp>
        <p:nvSpPr>
          <p:cNvPr id="20" name="Text 18"/>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Zeg met de stem: "Mijn mama is overleden, wat moet ik met de erfenis doen?"</a:t>
            </a:r>
            <a:endParaRPr lang="en-US" sz="1250" dirty="0"/>
          </a:p>
        </p:txBody>
      </p:sp>
      <p:sp>
        <p:nvSpPr>
          <p:cNvPr id="22" name="Shape 20"/>
          <p:cNvSpPr/>
          <p:nvPr/>
        </p:nvSpPr>
        <p:spPr>
          <a:xfrm>
            <a:off x="548640" y="5020056"/>
            <a:ext cx="329184" cy="329184"/>
          </a:xfrm>
          <a:prstGeom prst="ellipse">
            <a:avLst/>
          </a:prstGeom>
          <a:solidFill>
            <a:srgbClr val="10263F"/>
          </a:solidFill>
          <a:ln w="12700">
            <a:solidFill>
              <a:srgbClr val="10263F"/>
            </a:solidFill>
            <a:prstDash val="solid"/>
          </a:ln>
        </p:spPr>
      </p:sp>
      <p:sp>
        <p:nvSpPr>
          <p:cNvPr id="23" name="Text 21"/>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4" name="Text 22"/>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Kate schakelt naar begeleidingsmodus en geeft een stappenplan zonder marketing.</a:t>
            </a:r>
            <a:endParaRPr lang="en-US" sz="1250" dirty="0"/>
          </a:p>
        </p:txBody>
      </p:sp>
      <p:sp>
        <p:nvSpPr>
          <p:cNvPr id="25" name="Shape 23"/>
          <p:cNvSpPr/>
          <p:nvPr/>
        </p:nvSpPr>
        <p:spPr>
          <a:xfrm>
            <a:off x="548640" y="5678424"/>
            <a:ext cx="329184" cy="329184"/>
          </a:xfrm>
          <a:prstGeom prst="ellipse">
            <a:avLst/>
          </a:prstGeom>
          <a:solidFill>
            <a:srgbClr val="10263F"/>
          </a:solidFill>
          <a:ln w="12700">
            <a:solidFill>
              <a:srgbClr val="10263F"/>
            </a:solidFill>
            <a:prstDash val="solid"/>
          </a:ln>
        </p:spPr>
      </p:sp>
      <p:sp>
        <p:nvSpPr>
          <p:cNvPr id="26" name="Text 24"/>
          <p:cNvSpPr txBox="1"/>
          <p:nvPr/>
        </p:nvSpPr>
        <p:spPr>
          <a:xfrm>
            <a:off x="548640" y="5678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7" name="Text 25"/>
          <p:cNvSpPr txBox="1"/>
          <p:nvPr/>
        </p:nvSpPr>
        <p:spPr>
          <a:xfrm>
            <a:off x="1005840" y="5660136"/>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Kate biedt een adviseur aan, met een samenvatting.</a:t>
            </a:r>
            <a:endParaRPr lang="en-US" sz="1250" dirty="0"/>
          </a:p>
        </p:txBody>
      </p:sp>
      <p:sp>
        <p:nvSpPr>
          <p:cNvPr id="28" name="Shape 26"/>
          <p:cNvSpPr/>
          <p:nvPr/>
        </p:nvSpPr>
        <p:spPr>
          <a:xfrm>
            <a:off x="6629400" y="1600200"/>
            <a:ext cx="5010912" cy="1645920"/>
          </a:xfrm>
          <a:prstGeom prst="roundRect">
            <a:avLst>
              <a:gd name="adj" fmla="val 6667"/>
            </a:avLst>
          </a:prstGeom>
          <a:solidFill>
            <a:srgbClr val="F3F5F8"/>
          </a:solidFill>
          <a:ln w="12700">
            <a:solidFill>
              <a:srgbClr val="F3F5F8"/>
            </a:solidFill>
            <a:prstDash val="solid"/>
          </a:ln>
        </p:spPr>
      </p:sp>
      <p:sp>
        <p:nvSpPr>
          <p:cNvPr id="29" name="Text 27"/>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OP HET SCHERM</a:t>
            </a:r>
            <a:endParaRPr lang="en-US" sz="1100" dirty="0"/>
          </a:p>
        </p:txBody>
      </p:sp>
      <p:sp>
        <p:nvSpPr>
          <p:cNvPr id="30" name="Text 28"/>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"Wat verschrikkelijk, gecondoleerd. Neem gerust je tijd." Daarna een stappenplan en het aanbod om een adviseur in te schakelen, zodat Els haar verhaal niet opnieuw moet vertellen.</a:t>
            </a:r>
            <a:endParaRPr lang="en-US" sz="1300" dirty="0"/>
          </a:p>
        </p:txBody>
      </p:sp>
      <p:sp>
        <p:nvSpPr>
          <p:cNvPr id="31" name="Shape 29"/>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2" name="Text 30"/>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3" name="Text 31"/>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“Er is een moment waarop een bank níét moet verkopen. De uitkering van een erfenis lijkt op geld dat klaarstaat om belegd te worden. Kate herkent wat het echt is, begeleidt Els en geeft haar door aan een mens, met de volledige context.”</a:t>
            </a:r>
            <a:endParaRPr lang="en-US" sz="1650" dirty="0"/>
          </a:p>
        </p:txBody>
      </p:sp>
      <p:sp>
        <p:nvSpPr>
          <p:cNvPr id="35" name="Text 32"/>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0E9F8E"/>
          </a:solidFill>
          <a:ln w="12700">
            <a:solidFill>
              <a:srgbClr val="0E9F8E"/>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7</a:t>
            </a:r>
            <a:endParaRPr lang="en-US" sz="30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0E9F8E"/>
                </a:solidFill>
                <a:latin typeface="Calibri" pitchFamily="34" charset="0"/>
                <a:ea typeface="Calibri" pitchFamily="34" charset="-122"/>
                <a:cs typeface="Calibri" pitchFamily="34" charset="-120"/>
              </a:rPr>
              <a:t>SCÈNE 7</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2,3 miljoen klanten</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Jan (admin)</a:t>
            </a:r>
            <a:endParaRPr lang="en-US" sz="1200" dirty="0"/>
          </a:p>
        </p:txBody>
      </p:sp>
      <p:sp>
        <p:nvSpPr>
          <p:cNvPr id="10" name="Shape 8"/>
          <p:cNvSpPr/>
          <p:nvPr/>
        </p:nvSpPr>
        <p:spPr>
          <a:xfrm>
            <a:off x="10332720" y="914400"/>
            <a:ext cx="1307592" cy="329184"/>
          </a:xfrm>
          <a:prstGeom prst="roundRect">
            <a:avLst>
              <a:gd name="adj" fmla="val 33333"/>
            </a:avLst>
          </a:prstGeom>
          <a:solidFill>
            <a:srgbClr val="FDECE9"/>
          </a:solidFill>
          <a:ln w="12700">
            <a:solidFill>
              <a:srgbClr val="FDECE9"/>
            </a:solidFill>
            <a:prstDash val="solid"/>
          </a:ln>
        </p:spPr>
      </p:sp>
      <p:sp>
        <p:nvSpPr>
          <p:cNvPr id="11" name="Text 9"/>
          <p:cNvSpPr txBox="1"/>
          <p:nvPr/>
        </p:nvSpPr>
        <p:spPr>
          <a:xfrm>
            <a:off x="10332720" y="914400"/>
            <a:ext cx="1307592" cy="329184"/>
          </a:xfrm>
          <a:prstGeom prst="rect">
            <a:avLst/>
          </a:prstGeom>
          <a:noFill/>
          <a:ln/>
        </p:spPr>
        <p:txBody>
          <a:bodyPr wrap="square" lIns="0" tIns="0" rIns="0" bIns="0" rtlCol="0" anchor="ctr"/>
          <a:lstStyle/>
          <a:p>
            <a:pPr algn="ctr" indent="0" marL="0">
              <a:buNone/>
            </a:pPr>
            <a:r>
              <a:rPr lang="en-US" sz="1100" b="1" dirty="0">
                <a:solidFill>
                  <a:srgbClr val="B23A28"/>
                </a:solidFill>
                <a:latin typeface="Calibri" pitchFamily="34" charset="0"/>
                <a:ea typeface="Calibri" pitchFamily="34" charset="-122"/>
                <a:cs typeface="Calibri" pitchFamily="34" charset="-120"/>
              </a:rPr>
              <a:t>Bewijs E</a:t>
            </a:r>
            <a:endParaRPr lang="en-US" sz="1100" dirty="0"/>
          </a:p>
        </p:txBody>
      </p:sp>
      <p:sp>
        <p:nvSpPr>
          <p:cNvPr id="12" name="Text 10"/>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 /jury (#30) · cijfers aflezen op de dag zelf</a:t>
            </a:r>
            <a:endParaRPr lang="en-US" sz="1000" dirty="0"/>
          </a:p>
        </p:txBody>
      </p:sp>
      <p:sp>
        <p:nvSpPr>
          <p:cNvPr id="13" name="Text 11"/>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4" name="Text 12"/>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Antwoorden op "hoe schaalt dit?": dezelfde motor over 10 000 onbekenden.</a:t>
            </a:r>
            <a:endParaRPr lang="en-US" sz="1500" dirty="0"/>
          </a:p>
        </p:txBody>
      </p:sp>
      <p:sp>
        <p:nvSpPr>
          <p:cNvPr id="15" name="Text 13"/>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6" name="Text 14"/>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/jury, het jury-dashboard. Alleen voor de admin: log in als jan.</a:t>
            </a:r>
            <a:endParaRPr lang="en-US" sz="1300" dirty="0"/>
          </a:p>
        </p:txBody>
      </p:sp>
      <p:sp>
        <p:nvSpPr>
          <p:cNvPr id="17" name="Text 15"/>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8" name="Shape 16"/>
          <p:cNvSpPr/>
          <p:nvPr/>
        </p:nvSpPr>
        <p:spPr>
          <a:xfrm>
            <a:off x="548640" y="3703320"/>
            <a:ext cx="329184" cy="329184"/>
          </a:xfrm>
          <a:prstGeom prst="ellipse">
            <a:avLst/>
          </a:prstGeom>
          <a:solidFill>
            <a:srgbClr val="10263F"/>
          </a:solidFill>
          <a:ln w="12700">
            <a:solidFill>
              <a:srgbClr val="10263F"/>
            </a:solidFill>
            <a:prstDash val="solid"/>
          </a:ln>
        </p:spPr>
      </p:sp>
      <p:sp>
        <p:nvSpPr>
          <p:cNvPr id="19" name="Text 17"/>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20" name="Text 18"/>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KPI "Kregen bewust niets": 45,3 %.</a:t>
            </a:r>
            <a:endParaRPr lang="en-US" sz="1250" dirty="0"/>
          </a:p>
        </p:txBody>
      </p:sp>
      <p:sp>
        <p:nvSpPr>
          <p:cNvPr id="21" name="Shape 19"/>
          <p:cNvSpPr/>
          <p:nvPr/>
        </p:nvSpPr>
        <p:spPr>
          <a:xfrm>
            <a:off x="548640" y="4361688"/>
            <a:ext cx="329184" cy="329184"/>
          </a:xfrm>
          <a:prstGeom prst="ellipse">
            <a:avLst/>
          </a:prstGeom>
          <a:solidFill>
            <a:srgbClr val="10263F"/>
          </a:solidFill>
          <a:ln w="12700">
            <a:solidFill>
              <a:srgbClr val="10263F"/>
            </a:solidFill>
            <a:prstDash val="solid"/>
          </a:ln>
        </p:spPr>
      </p:sp>
      <p:sp>
        <p:nvSpPr>
          <p:cNvPr id="22" name="Text 20"/>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3" name="Text 21"/>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Verdeling over de kanalen: feed, push, sms, bellen.</a:t>
            </a:r>
            <a:endParaRPr lang="en-US" sz="1250" dirty="0"/>
          </a:p>
        </p:txBody>
      </p:sp>
      <p:sp>
        <p:nvSpPr>
          <p:cNvPr id="24" name="Shape 22"/>
          <p:cNvSpPr/>
          <p:nvPr/>
        </p:nvSpPr>
        <p:spPr>
          <a:xfrm>
            <a:off x="548640" y="5020056"/>
            <a:ext cx="329184" cy="329184"/>
          </a:xfrm>
          <a:prstGeom prst="ellipse">
            <a:avLst/>
          </a:prstGeom>
          <a:solidFill>
            <a:srgbClr val="10263F"/>
          </a:solidFill>
          <a:ln w="12700">
            <a:solidFill>
              <a:srgbClr val="10263F"/>
            </a:solidFill>
            <a:prstDash val="solid"/>
          </a:ln>
        </p:spPr>
      </p:sp>
      <p:sp>
        <p:nvSpPr>
          <p:cNvPr id="25" name="Text 23"/>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6" name="Text 24"/>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Meting per klant: p50 1,3 ms ≈ 56 CPU-minuten voor 2,3 miljoen klanten (30/09).</a:t>
            </a:r>
            <a:endParaRPr lang="en-US" sz="1250" dirty="0"/>
          </a:p>
        </p:txBody>
      </p:sp>
      <p:sp>
        <p:nvSpPr>
          <p:cNvPr id="27" name="Shape 25"/>
          <p:cNvSpPr/>
          <p:nvPr/>
        </p:nvSpPr>
        <p:spPr>
          <a:xfrm>
            <a:off x="548640" y="5678424"/>
            <a:ext cx="329184" cy="329184"/>
          </a:xfrm>
          <a:prstGeom prst="ellipse">
            <a:avLst/>
          </a:prstGeom>
          <a:solidFill>
            <a:srgbClr val="10263F"/>
          </a:solidFill>
          <a:ln w="12700">
            <a:solidFill>
              <a:srgbClr val="10263F"/>
            </a:solidFill>
            <a:prstDash val="solid"/>
          </a:ln>
        </p:spPr>
      </p:sp>
      <p:sp>
        <p:nvSpPr>
          <p:cNvPr id="28" name="Text 26"/>
          <p:cNvSpPr txBox="1"/>
          <p:nvPr/>
        </p:nvSpPr>
        <p:spPr>
          <a:xfrm>
            <a:off x="548640" y="5678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9" name="Text 27"/>
          <p:cNvSpPr txBox="1"/>
          <p:nvPr/>
        </p:nvSpPr>
        <p:spPr>
          <a:xfrm>
            <a:off x="1005840" y="5660136"/>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(Voorstel, niet in het script) persona-trace van Marie (idle_savings).</a:t>
            </a:r>
            <a:endParaRPr lang="en-US" sz="1250" dirty="0"/>
          </a:p>
        </p:txBody>
      </p:sp>
      <p:sp>
        <p:nvSpPr>
          <p:cNvPr id="30" name="Shape 28"/>
          <p:cNvSpPr/>
          <p:nvPr/>
        </p:nvSpPr>
        <p:spPr>
          <a:xfrm>
            <a:off x="6629400" y="1600200"/>
            <a:ext cx="5010912" cy="1645920"/>
          </a:xfrm>
          <a:prstGeom prst="roundRect">
            <a:avLst>
              <a:gd name="adj" fmla="val 6667"/>
            </a:avLst>
          </a:prstGeom>
          <a:solidFill>
            <a:srgbClr val="FEF4E2"/>
          </a:solidFill>
          <a:ln w="12700">
            <a:solidFill>
              <a:srgbClr val="FEF4E2"/>
            </a:solidFill>
            <a:prstDash val="solid"/>
          </a:ln>
        </p:spPr>
      </p:sp>
      <p:sp>
        <p:nvSpPr>
          <p:cNvPr id="31" name="Text 29"/>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B7791F"/>
                </a:solidFill>
                <a:latin typeface="Calibri" pitchFamily="34" charset="0"/>
                <a:ea typeface="Calibri" pitchFamily="34" charset="-122"/>
                <a:cs typeface="Calibri" pitchFamily="34" charset="-120"/>
              </a:rPr>
              <a:t>LET OP</a:t>
            </a:r>
            <a:endParaRPr lang="en-US" sz="1100" dirty="0"/>
          </a:p>
        </p:txBody>
      </p:sp>
      <p:sp>
        <p:nvSpPr>
          <p:cNvPr id="32" name="Text 30"/>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 De tijd hangt af van de machine. Lees de cijfers af van het scherm op de dag van de opname en pas de voice-over aan.</a:t>
            </a:r>
            <a:endParaRPr lang="en-US" sz="1300" dirty="0"/>
          </a:p>
        </p:txBody>
      </p:sp>
      <p:sp>
        <p:nvSpPr>
          <p:cNvPr id="33" name="Shape 31"/>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4" name="Text 32"/>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5" name="Text 33"/>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“Dit is dezelfde motor, gedraaid over tienduizend klanten die niemand met de hand heeft gemaakt. Bijna de helft kreeg bewust niets, en dat is precies de bedoeling. Voor alle klanten van KBC is het ongeveer een uur rekenwerk op één processor, zonder taalmodel. Het dure AI-deel draait alleen als iemand met Kate praat.”</a:t>
            </a:r>
            <a:endParaRPr lang="en-US" sz="1650" dirty="0"/>
          </a:p>
        </p:txBody>
      </p:sp>
      <p:sp>
        <p:nvSpPr>
          <p:cNvPr id="37" name="Text 34"/>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11480"/>
            <a:ext cx="777240" cy="777240"/>
          </a:xfrm>
          <a:prstGeom prst="ellipse">
            <a:avLst/>
          </a:prstGeom>
          <a:solidFill>
            <a:srgbClr val="0E9F8E"/>
          </a:solidFill>
          <a:ln w="12700">
            <a:solidFill>
              <a:srgbClr val="0E9F8E"/>
            </a:solidFill>
            <a:prstDash val="solid"/>
          </a:ln>
        </p:spPr>
      </p:sp>
      <p:sp>
        <p:nvSpPr>
          <p:cNvPr id="3" name="Text 1"/>
          <p:cNvSpPr txBox="1"/>
          <p:nvPr/>
        </p:nvSpPr>
        <p:spPr>
          <a:xfrm>
            <a:off x="548640" y="4114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t>
            </a:r>
            <a:endParaRPr lang="en-US" sz="3000" dirty="0"/>
          </a:p>
        </p:txBody>
      </p:sp>
      <p:sp>
        <p:nvSpPr>
          <p:cNvPr id="4" name="Text 2"/>
          <p:cNvSpPr txBox="1"/>
          <p:nvPr/>
        </p:nvSpPr>
        <p:spPr>
          <a:xfrm>
            <a:off x="1508760" y="411480"/>
            <a:ext cx="4572000" cy="274320"/>
          </a:xfrm>
          <a:prstGeom prst="rect">
            <a:avLst/>
          </a:prstGeom>
          <a:noFill/>
          <a:ln/>
        </p:spPr>
        <p:txBody>
          <a:bodyPr wrap="square" lIns="0" tIns="0" rIns="0" bIns="0" rtlCol="0" anchor="t"/>
          <a:lstStyle/>
          <a:p>
            <a:pPr indent="0" marL="0">
              <a:buNone/>
            </a:pPr>
            <a:r>
              <a:rPr lang="en-US" sz="1200" b="1" spc="300" kern="0" dirty="0">
                <a:solidFill>
                  <a:srgbClr val="0E9F8E"/>
                </a:solidFill>
                <a:latin typeface="Calibri" pitchFamily="34" charset="0"/>
                <a:ea typeface="Calibri" pitchFamily="34" charset="-122"/>
                <a:cs typeface="Calibri" pitchFamily="34" charset="-120"/>
              </a:rPr>
              <a:t>SLOT</a:t>
            </a:r>
            <a:endParaRPr lang="en-US" sz="1200" dirty="0"/>
          </a:p>
        </p:txBody>
      </p:sp>
      <p:sp>
        <p:nvSpPr>
          <p:cNvPr id="5" name="Text 3"/>
          <p:cNvSpPr txBox="1"/>
          <p:nvPr/>
        </p:nvSpPr>
        <p:spPr>
          <a:xfrm>
            <a:off x="1508760" y="658368"/>
            <a:ext cx="7498080" cy="594360"/>
          </a:xfrm>
          <a:prstGeom prst="rect">
            <a:avLst/>
          </a:prstGeom>
          <a:noFill/>
          <a:ln/>
        </p:spPr>
        <p:txBody>
          <a:bodyPr wrap="square" lIns="0" tIns="0" rIns="0" bIns="0" rtlCol="0" anchor="t"/>
          <a:lstStyle/>
          <a:p>
            <a:pPr indent="0" marL="0">
              <a:buNone/>
            </a:pPr>
            <a:r>
              <a:rPr lang="en-US" sz="2700" b="1" dirty="0">
                <a:solidFill>
                  <a:srgbClr val="10263F"/>
                </a:solidFill>
                <a:latin typeface="Cambria" pitchFamily="34" charset="0"/>
                <a:ea typeface="Cambria" pitchFamily="34" charset="-122"/>
                <a:cs typeface="Cambria" pitchFamily="34" charset="-120"/>
              </a:rPr>
              <a:t>Slot: vertrouwen en veiligheid</a:t>
            </a:r>
            <a:endParaRPr lang="en-US" sz="2700" dirty="0"/>
          </a:p>
        </p:txBody>
      </p:sp>
      <p:sp>
        <p:nvSpPr>
          <p:cNvPr id="6" name="Shape 4"/>
          <p:cNvSpPr/>
          <p:nvPr/>
        </p:nvSpPr>
        <p:spPr>
          <a:xfrm>
            <a:off x="9144000" y="457200"/>
            <a:ext cx="1097280" cy="384048"/>
          </a:xfrm>
          <a:prstGeom prst="roundRect">
            <a:avLst>
              <a:gd name="adj" fmla="val 28571"/>
            </a:avLst>
          </a:prstGeom>
          <a:solidFill>
            <a:srgbClr val="10263F"/>
          </a:solidFill>
          <a:ln w="12700">
            <a:solidFill>
              <a:srgbClr val="10263F"/>
            </a:solidFill>
            <a:prstDash val="solid"/>
          </a:ln>
        </p:spPr>
      </p:sp>
      <p:sp>
        <p:nvSpPr>
          <p:cNvPr id="7" name="Text 5"/>
          <p:cNvSpPr txBox="1"/>
          <p:nvPr/>
        </p:nvSpPr>
        <p:spPr>
          <a:xfrm>
            <a:off x="9144000" y="4572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 sec</a:t>
            </a:r>
            <a:endParaRPr lang="en-US" sz="1300" dirty="0"/>
          </a:p>
        </p:txBody>
      </p:sp>
      <p:sp>
        <p:nvSpPr>
          <p:cNvPr id="8" name="Shape 6"/>
          <p:cNvSpPr/>
          <p:nvPr/>
        </p:nvSpPr>
        <p:spPr>
          <a:xfrm>
            <a:off x="10332720" y="457200"/>
            <a:ext cx="1307592" cy="384048"/>
          </a:xfrm>
          <a:prstGeom prst="roundRect">
            <a:avLst>
              <a:gd name="adj" fmla="val 28571"/>
            </a:avLst>
          </a:prstGeom>
          <a:solidFill>
            <a:srgbClr val="E3F4F2"/>
          </a:solidFill>
          <a:ln w="12700">
            <a:solidFill>
              <a:srgbClr val="E3F4F2"/>
            </a:solidFill>
            <a:prstDash val="solid"/>
          </a:ln>
        </p:spPr>
      </p:sp>
      <p:sp>
        <p:nvSpPr>
          <p:cNvPr id="9" name="Text 7"/>
          <p:cNvSpPr txBox="1"/>
          <p:nvPr/>
        </p:nvSpPr>
        <p:spPr>
          <a:xfrm>
            <a:off x="10332720" y="457200"/>
            <a:ext cx="1307592" cy="384048"/>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Sofie</a:t>
            </a:r>
            <a:endParaRPr lang="en-US" sz="1200" dirty="0"/>
          </a:p>
        </p:txBody>
      </p:sp>
      <p:sp>
        <p:nvSpPr>
          <p:cNvPr id="10" name="Shape 8"/>
          <p:cNvSpPr/>
          <p:nvPr/>
        </p:nvSpPr>
        <p:spPr>
          <a:xfrm>
            <a:off x="10332720" y="914400"/>
            <a:ext cx="1307592" cy="329184"/>
          </a:xfrm>
          <a:prstGeom prst="roundRect">
            <a:avLst>
              <a:gd name="adj" fmla="val 33333"/>
            </a:avLst>
          </a:prstGeom>
          <a:solidFill>
            <a:srgbClr val="FDECE9"/>
          </a:solidFill>
          <a:ln w="12700">
            <a:solidFill>
              <a:srgbClr val="FDECE9"/>
            </a:solidFill>
            <a:prstDash val="solid"/>
          </a:ln>
        </p:spPr>
      </p:sp>
      <p:sp>
        <p:nvSpPr>
          <p:cNvPr id="11" name="Text 9"/>
          <p:cNvSpPr txBox="1"/>
          <p:nvPr/>
        </p:nvSpPr>
        <p:spPr>
          <a:xfrm>
            <a:off x="10332720" y="914400"/>
            <a:ext cx="1307592" cy="329184"/>
          </a:xfrm>
          <a:prstGeom prst="rect">
            <a:avLst/>
          </a:prstGeom>
          <a:noFill/>
          <a:ln/>
        </p:spPr>
        <p:txBody>
          <a:bodyPr wrap="square" lIns="0" tIns="0" rIns="0" bIns="0" rtlCol="0" anchor="ctr"/>
          <a:lstStyle/>
          <a:p>
            <a:pPr algn="ctr" indent="0" marL="0">
              <a:buNone/>
            </a:pPr>
            <a:r>
              <a:rPr lang="en-US" sz="1100" b="1" dirty="0">
                <a:solidFill>
                  <a:srgbClr val="B23A28"/>
                </a:solidFill>
                <a:latin typeface="Calibri" pitchFamily="34" charset="0"/>
                <a:ea typeface="Calibri" pitchFamily="34" charset="-122"/>
                <a:cs typeface="Calibri" pitchFamily="34" charset="-120"/>
              </a:rPr>
              <a:t>Bewijs D</a:t>
            </a:r>
            <a:endParaRPr lang="en-US" sz="1100" dirty="0"/>
          </a:p>
        </p:txBody>
      </p:sp>
      <p:sp>
        <p:nvSpPr>
          <p:cNvPr id="12" name="Text 10"/>
          <p:cNvSpPr txBox="1"/>
          <p:nvPr/>
        </p:nvSpPr>
        <p:spPr>
          <a:xfrm>
            <a:off x="5669280" y="1298448"/>
            <a:ext cx="59710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Status: ✅ schakelaar · ⏳ Aikido-screenshot "na" (#55)</a:t>
            </a:r>
            <a:endParaRPr lang="en-US" sz="1000" dirty="0"/>
          </a:p>
        </p:txBody>
      </p:sp>
      <p:sp>
        <p:nvSpPr>
          <p:cNvPr id="13" name="Text 11"/>
          <p:cNvSpPr txBox="1"/>
          <p:nvPr/>
        </p:nvSpPr>
        <p:spPr>
          <a:xfrm>
            <a:off x="548640" y="15544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DOEL</a:t>
            </a:r>
            <a:endParaRPr lang="en-US" sz="1100" dirty="0"/>
          </a:p>
        </p:txBody>
      </p:sp>
      <p:sp>
        <p:nvSpPr>
          <p:cNvPr id="14" name="Text 12"/>
          <p:cNvSpPr txBox="1"/>
          <p:nvPr/>
        </p:nvSpPr>
        <p:spPr>
          <a:xfrm>
            <a:off x="548640" y="1810512"/>
            <a:ext cx="5760720" cy="594360"/>
          </a:xfrm>
          <a:prstGeom prst="rect">
            <a:avLst/>
          </a:prstGeom>
          <a:noFill/>
          <a:ln/>
        </p:spPr>
        <p:txBody>
          <a:bodyPr wrap="square" lIns="0" tIns="0" rIns="0" bIns="0" rtlCol="0" anchor="t"/>
          <a:lstStyle/>
          <a:p>
            <a:pPr indent="0" marL="0">
              <a:buNone/>
            </a:pPr>
            <a:r>
              <a:rPr lang="en-US" sz="1500" i="1" dirty="0">
                <a:solidFill>
                  <a:srgbClr val="10263F"/>
                </a:solidFill>
                <a:latin typeface="Calibri" pitchFamily="34" charset="0"/>
                <a:ea typeface="Calibri" pitchFamily="34" charset="-122"/>
                <a:cs typeface="Calibri" pitchFamily="34" charset="-120"/>
              </a:rPr>
              <a:t>Eindigen op vertrouwen en controle.</a:t>
            </a:r>
            <a:endParaRPr lang="en-US" sz="1500" dirty="0"/>
          </a:p>
        </p:txBody>
      </p:sp>
      <p:sp>
        <p:nvSpPr>
          <p:cNvPr id="15" name="Text 13"/>
          <p:cNvSpPr txBox="1"/>
          <p:nvPr/>
        </p:nvSpPr>
        <p:spPr>
          <a:xfrm>
            <a:off x="548640" y="24688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BEELD / START</a:t>
            </a:r>
            <a:endParaRPr lang="en-US" sz="1100" dirty="0"/>
          </a:p>
        </p:txBody>
      </p:sp>
      <p:sp>
        <p:nvSpPr>
          <p:cNvPr id="16" name="Text 14"/>
          <p:cNvSpPr txBox="1"/>
          <p:nvPr/>
        </p:nvSpPr>
        <p:spPr>
          <a:xfrm>
            <a:off x="548640" y="2724912"/>
            <a:ext cx="576072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Login sofie → "Wat weet en mag Kate?"</a:t>
            </a:r>
            <a:endParaRPr lang="en-US" sz="1300" dirty="0"/>
          </a:p>
        </p:txBody>
      </p:sp>
      <p:sp>
        <p:nvSpPr>
          <p:cNvPr id="17" name="Text 15"/>
          <p:cNvSpPr txBox="1"/>
          <p:nvPr/>
        </p:nvSpPr>
        <p:spPr>
          <a:xfrm>
            <a:off x="548640" y="3383280"/>
            <a:ext cx="566928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Calibri" pitchFamily="34" charset="0"/>
                <a:ea typeface="Calibri" pitchFamily="34" charset="-122"/>
                <a:cs typeface="Calibri" pitchFamily="34" charset="-120"/>
              </a:rPr>
              <a:t>WAT JE DOET</a:t>
            </a:r>
            <a:endParaRPr lang="en-US" sz="1100" dirty="0"/>
          </a:p>
        </p:txBody>
      </p:sp>
      <p:sp>
        <p:nvSpPr>
          <p:cNvPr id="18" name="Shape 16"/>
          <p:cNvSpPr/>
          <p:nvPr/>
        </p:nvSpPr>
        <p:spPr>
          <a:xfrm>
            <a:off x="548640" y="3703320"/>
            <a:ext cx="329184" cy="329184"/>
          </a:xfrm>
          <a:prstGeom prst="ellipse">
            <a:avLst/>
          </a:prstGeom>
          <a:solidFill>
            <a:srgbClr val="10263F"/>
          </a:solidFill>
          <a:ln w="12700">
            <a:solidFill>
              <a:srgbClr val="10263F"/>
            </a:solidFill>
            <a:prstDash val="solid"/>
          </a:ln>
        </p:spPr>
      </p:sp>
      <p:sp>
        <p:nvSpPr>
          <p:cNvPr id="19" name="Text 17"/>
          <p:cNvSpPr txBox="1"/>
          <p:nvPr/>
        </p:nvSpPr>
        <p:spPr>
          <a:xfrm>
            <a:off x="548640" y="3703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20" name="Text 18"/>
          <p:cNvSpPr txBox="1"/>
          <p:nvPr/>
        </p:nvSpPr>
        <p:spPr>
          <a:xfrm>
            <a:off x="1005840" y="3685032"/>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Zet de schakelaar voor uitgaven uit.</a:t>
            </a:r>
            <a:endParaRPr lang="en-US" sz="1250" dirty="0"/>
          </a:p>
        </p:txBody>
      </p:sp>
      <p:sp>
        <p:nvSpPr>
          <p:cNvPr id="21" name="Shape 19"/>
          <p:cNvSpPr/>
          <p:nvPr/>
        </p:nvSpPr>
        <p:spPr>
          <a:xfrm>
            <a:off x="548640" y="4361688"/>
            <a:ext cx="329184" cy="329184"/>
          </a:xfrm>
          <a:prstGeom prst="ellipse">
            <a:avLst/>
          </a:prstGeom>
          <a:solidFill>
            <a:srgbClr val="10263F"/>
          </a:solidFill>
          <a:ln w="12700">
            <a:solidFill>
              <a:srgbClr val="10263F"/>
            </a:solidFill>
            <a:prstDash val="solid"/>
          </a:ln>
        </p:spPr>
      </p:sp>
      <p:sp>
        <p:nvSpPr>
          <p:cNvPr id="22" name="Text 20"/>
          <p:cNvSpPr txBox="1"/>
          <p:nvPr/>
        </p:nvSpPr>
        <p:spPr>
          <a:xfrm>
            <a:off x="548640" y="4361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3" name="Text 21"/>
          <p:cNvSpPr txBox="1"/>
          <p:nvPr/>
        </p:nvSpPr>
        <p:spPr>
          <a:xfrm>
            <a:off x="1005840" y="4343400"/>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Ga terug naar home: alleen de kaart over het Luxepakket blijft.</a:t>
            </a:r>
            <a:endParaRPr lang="en-US" sz="1250" dirty="0"/>
          </a:p>
        </p:txBody>
      </p:sp>
      <p:sp>
        <p:nvSpPr>
          <p:cNvPr id="24" name="Shape 22"/>
          <p:cNvSpPr/>
          <p:nvPr/>
        </p:nvSpPr>
        <p:spPr>
          <a:xfrm>
            <a:off x="548640" y="5020056"/>
            <a:ext cx="329184" cy="329184"/>
          </a:xfrm>
          <a:prstGeom prst="ellipse">
            <a:avLst/>
          </a:prstGeom>
          <a:solidFill>
            <a:srgbClr val="10263F"/>
          </a:solidFill>
          <a:ln w="12700">
            <a:solidFill>
              <a:srgbClr val="10263F"/>
            </a:solidFill>
            <a:prstDash val="solid"/>
          </a:ln>
        </p:spPr>
      </p:sp>
      <p:sp>
        <p:nvSpPr>
          <p:cNvPr id="25" name="Text 23"/>
          <p:cNvSpPr txBox="1"/>
          <p:nvPr/>
        </p:nvSpPr>
        <p:spPr>
          <a:xfrm>
            <a:off x="548640" y="5020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6" name="Text 24"/>
          <p:cNvSpPr txBox="1"/>
          <p:nvPr/>
        </p:nvSpPr>
        <p:spPr>
          <a:xfrm>
            <a:off x="1005840" y="5001768"/>
            <a:ext cx="5303520" cy="621792"/>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Toon de Aikido-screenshot "na" (#55).</a:t>
            </a:r>
            <a:endParaRPr lang="en-US" sz="1250" dirty="0"/>
          </a:p>
        </p:txBody>
      </p:sp>
      <p:sp>
        <p:nvSpPr>
          <p:cNvPr id="27" name="Shape 25"/>
          <p:cNvSpPr/>
          <p:nvPr/>
        </p:nvSpPr>
        <p:spPr>
          <a:xfrm>
            <a:off x="6629400" y="1600200"/>
            <a:ext cx="5010912" cy="1645920"/>
          </a:xfrm>
          <a:prstGeom prst="roundRect">
            <a:avLst>
              <a:gd name="adj" fmla="val 6667"/>
            </a:avLst>
          </a:prstGeom>
          <a:solidFill>
            <a:srgbClr val="F3F5F8"/>
          </a:solidFill>
          <a:ln w="12700">
            <a:solidFill>
              <a:srgbClr val="F3F5F8"/>
            </a:solidFill>
            <a:prstDash val="solid"/>
          </a:ln>
        </p:spPr>
      </p:sp>
      <p:sp>
        <p:nvSpPr>
          <p:cNvPr id="28" name="Text 26"/>
          <p:cNvSpPr txBox="1"/>
          <p:nvPr/>
        </p:nvSpPr>
        <p:spPr>
          <a:xfrm>
            <a:off x="6858000" y="173736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OP HET SCHERM</a:t>
            </a:r>
            <a:endParaRPr lang="en-US" sz="1100" dirty="0"/>
          </a:p>
        </p:txBody>
      </p:sp>
      <p:sp>
        <p:nvSpPr>
          <p:cNvPr id="29" name="Text 27"/>
          <p:cNvSpPr txBox="1"/>
          <p:nvPr/>
        </p:nvSpPr>
        <p:spPr>
          <a:xfrm>
            <a:off x="6858000" y="2029968"/>
            <a:ext cx="4553712"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Spaarvoorstel en tankdeal verdwijnen (die steunen op uitgaven). Het Luxepakket blijft (dat steunt op haar producten).</a:t>
            </a:r>
            <a:endParaRPr lang="en-US" sz="1300" dirty="0"/>
          </a:p>
        </p:txBody>
      </p:sp>
      <p:sp>
        <p:nvSpPr>
          <p:cNvPr id="30" name="Shape 28"/>
          <p:cNvSpPr/>
          <p:nvPr/>
        </p:nvSpPr>
        <p:spPr>
          <a:xfrm>
            <a:off x="6629400" y="3383280"/>
            <a:ext cx="5010912" cy="2880360"/>
          </a:xfrm>
          <a:prstGeom prst="roundRect">
            <a:avLst>
              <a:gd name="adj" fmla="val 3810"/>
            </a:avLst>
          </a:prstGeom>
          <a:solidFill>
            <a:srgbClr val="10263F"/>
          </a:solidFill>
          <a:ln w="12700">
            <a:solidFill>
              <a:srgbClr val="10263F"/>
            </a:solidFill>
            <a:prstDash val="solid"/>
          </a:ln>
        </p:spPr>
      </p:sp>
      <p:sp>
        <p:nvSpPr>
          <p:cNvPr id="31" name="Text 29"/>
          <p:cNvSpPr txBox="1"/>
          <p:nvPr/>
        </p:nvSpPr>
        <p:spPr>
          <a:xfrm>
            <a:off x="6858000" y="3520440"/>
            <a:ext cx="4553712"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VOICE-OVER · wat je zegt</a:t>
            </a:r>
            <a:endParaRPr lang="en-US" sz="1100" dirty="0"/>
          </a:p>
        </p:txBody>
      </p:sp>
      <p:sp>
        <p:nvSpPr>
          <p:cNvPr id="32" name="Text 30"/>
          <p:cNvSpPr txBox="1"/>
          <p:nvPr/>
        </p:nvSpPr>
        <p:spPr>
          <a:xfrm>
            <a:off x="6858000" y="3840480"/>
            <a:ext cx="4553712" cy="2331720"/>
          </a:xfrm>
          <a:prstGeom prst="rect">
            <a:avLst/>
          </a:prstGeom>
          <a:noFill/>
          <a:ln/>
        </p:spPr>
        <p:txBody>
          <a:bodyPr wrap="square" lIns="0" tIns="0" rIns="0" bIns="0" rtlCol="0" anchor="t"/>
          <a:lstStyle/>
          <a:p>
            <a:pPr indent="0" marL="0">
              <a:buNone/>
            </a:pPr>
            <a:r>
              <a:rPr lang="en-US" sz="1650" i="1" dirty="0">
                <a:solidFill>
                  <a:srgbClr val="FFFFFF"/>
                </a:solidFill>
                <a:latin typeface="Calibri" pitchFamily="34" charset="0"/>
                <a:ea typeface="Calibri" pitchFamily="34" charset="-122"/>
                <a:cs typeface="Calibri" pitchFamily="34" charset="-120"/>
              </a:rPr>
              <a:t>“Elke suggestie zegt waarom. Jij kiest wat Kate mag weten en wat ze mag doen. Kate 2.0: de juiste boodschap, op het juiste moment, via het juiste kanaal, of bewust helemaal niets.”</a:t>
            </a:r>
            <a:endParaRPr lang="en-US" sz="1650" dirty="0"/>
          </a:p>
        </p:txBody>
      </p:sp>
      <p:sp>
        <p:nvSpPr>
          <p:cNvPr id="34" name="Text 31"/>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t"/>
          <a:lstStyle/>
          <a:p>
            <a:pPr indent="0" marL="0">
              <a:buNone/>
            </a:pPr>
            <a:r>
              <a:rPr lang="en-US" sz="3400" b="1" dirty="0">
                <a:solidFill>
                  <a:srgbClr val="10263F"/>
                </a:solidFill>
                <a:latin typeface="Cambria" pitchFamily="34" charset="0"/>
                <a:ea typeface="Cambria" pitchFamily="34" charset="-122"/>
                <a:cs typeface="Cambria" pitchFamily="34" charset="-120"/>
              </a:rPr>
              <a:t>Plan B</a:t>
            </a:r>
            <a:endParaRPr lang="en-US" sz="3400" dirty="0"/>
          </a:p>
        </p:txBody>
      </p:sp>
      <p:sp>
        <p:nvSpPr>
          <p:cNvPr id="3"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500" i="1" dirty="0">
                <a:solidFill>
                  <a:srgbClr val="6B7280"/>
                </a:solidFill>
                <a:latin typeface="Calibri" pitchFamily="34" charset="0"/>
                <a:ea typeface="Calibri" pitchFamily="34" charset="-122"/>
                <a:cs typeface="Calibri" pitchFamily="34" charset="-120"/>
              </a:rPr>
              <a:t>Als iets niet af is bij de opname</a:t>
            </a:r>
            <a:endParaRPr lang="en-US" sz="1500" dirty="0"/>
          </a:p>
        </p:txBody>
      </p:sp>
      <p:sp>
        <p:nvSpPr>
          <p:cNvPr id="4" name="Shape 2"/>
          <p:cNvSpPr/>
          <p:nvPr/>
        </p:nvSpPr>
        <p:spPr>
          <a:xfrm>
            <a:off x="548640" y="1554480"/>
            <a:ext cx="4206240" cy="566928"/>
          </a:xfrm>
          <a:prstGeom prst="roundRect">
            <a:avLst>
              <a:gd name="adj" fmla="val 19355"/>
            </a:avLst>
          </a:prstGeom>
          <a:solidFill>
            <a:srgbClr val="FDECE9"/>
          </a:solidFill>
          <a:ln w="12700">
            <a:solidFill>
              <a:srgbClr val="FDECE9"/>
            </a:solidFill>
            <a:prstDash val="solid"/>
          </a:ln>
        </p:spPr>
      </p:sp>
      <p:sp>
        <p:nvSpPr>
          <p:cNvPr id="5" name="Text 3"/>
          <p:cNvSpPr txBox="1"/>
          <p:nvPr/>
        </p:nvSpPr>
        <p:spPr>
          <a:xfrm>
            <a:off x="777240" y="1554480"/>
            <a:ext cx="3840480" cy="566928"/>
          </a:xfrm>
          <a:prstGeom prst="rect">
            <a:avLst/>
          </a:prstGeom>
          <a:noFill/>
          <a:ln/>
        </p:spPr>
        <p:txBody>
          <a:bodyPr wrap="square" lIns="0" tIns="0" rIns="0" bIns="0" rtlCol="0" anchor="ctr"/>
          <a:lstStyle/>
          <a:p>
            <a:pPr indent="0" marL="0">
              <a:buNone/>
            </a:pPr>
            <a:r>
              <a:rPr lang="en-US" sz="1300" b="1" dirty="0">
                <a:solidFill>
                  <a:srgbClr val="B23A28"/>
                </a:solidFill>
                <a:latin typeface="Calibri" pitchFamily="34" charset="0"/>
                <a:ea typeface="Calibri" pitchFamily="34" charset="-122"/>
                <a:cs typeface="Calibri" pitchFamily="34" charset="-120"/>
              </a:rPr>
              <a:t>Twee telefoons naast elkaar</a:t>
            </a:r>
            <a:endParaRPr lang="en-US" sz="1300" dirty="0"/>
          </a:p>
        </p:txBody>
      </p:sp>
      <p:sp>
        <p:nvSpPr>
          <p:cNvPr id="6" name="Text 4"/>
          <p:cNvSpPr txBox="1"/>
          <p:nvPr/>
        </p:nvSpPr>
        <p:spPr>
          <a:xfrm>
            <a:off x="4846320" y="1554480"/>
            <a:ext cx="548640" cy="566928"/>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5486400" y="1554480"/>
            <a:ext cx="6126480" cy="566928"/>
          </a:xfrm>
          <a:prstGeom prst="roundRect">
            <a:avLst>
              <a:gd name="adj" fmla="val 19355"/>
            </a:avLst>
          </a:prstGeom>
          <a:solidFill>
            <a:srgbClr val="E3F4F2"/>
          </a:solidFill>
          <a:ln w="12700">
            <a:solidFill>
              <a:srgbClr val="E3F4F2"/>
            </a:solidFill>
            <a:prstDash val="solid"/>
          </a:ln>
        </p:spPr>
      </p:sp>
      <p:sp>
        <p:nvSpPr>
          <p:cNvPr id="8" name="Text 6"/>
          <p:cNvSpPr txBox="1"/>
          <p:nvPr/>
        </p:nvSpPr>
        <p:spPr>
          <a:xfrm>
            <a:off x="5715000" y="1554480"/>
            <a:ext cx="5760720" cy="5669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Na elkaar inloggen, met een harde knip</a:t>
            </a:r>
            <a:endParaRPr lang="en-US" sz="1300" dirty="0"/>
          </a:p>
        </p:txBody>
      </p:sp>
      <p:sp>
        <p:nvSpPr>
          <p:cNvPr id="9" name="Shape 7"/>
          <p:cNvSpPr/>
          <p:nvPr/>
        </p:nvSpPr>
        <p:spPr>
          <a:xfrm>
            <a:off x="548640" y="2240280"/>
            <a:ext cx="4206240" cy="566928"/>
          </a:xfrm>
          <a:prstGeom prst="roundRect">
            <a:avLst>
              <a:gd name="adj" fmla="val 19355"/>
            </a:avLst>
          </a:prstGeom>
          <a:solidFill>
            <a:srgbClr val="FDECE9"/>
          </a:solidFill>
          <a:ln w="12700">
            <a:solidFill>
              <a:srgbClr val="FDECE9"/>
            </a:solidFill>
            <a:prstDash val="solid"/>
          </a:ln>
        </p:spPr>
      </p:sp>
      <p:sp>
        <p:nvSpPr>
          <p:cNvPr id="10" name="Text 8"/>
          <p:cNvSpPr txBox="1"/>
          <p:nvPr/>
        </p:nvSpPr>
        <p:spPr>
          <a:xfrm>
            <a:off x="777240" y="2240280"/>
            <a:ext cx="3840480" cy="566928"/>
          </a:xfrm>
          <a:prstGeom prst="rect">
            <a:avLst/>
          </a:prstGeom>
          <a:noFill/>
          <a:ln/>
        </p:spPr>
        <p:txBody>
          <a:bodyPr wrap="square" lIns="0" tIns="0" rIns="0" bIns="0" rtlCol="0" anchor="ctr"/>
          <a:lstStyle/>
          <a:p>
            <a:pPr indent="0" marL="0">
              <a:buNone/>
            </a:pPr>
            <a:r>
              <a:rPr lang="en-US" sz="1300" b="1" dirty="0">
                <a:solidFill>
                  <a:srgbClr val="B23A28"/>
                </a:solidFill>
                <a:latin typeface="Calibri" pitchFamily="34" charset="0"/>
                <a:ea typeface="Calibri" pitchFamily="34" charset="-122"/>
                <a:cs typeface="Calibri" pitchFamily="34" charset="-120"/>
              </a:rPr>
              <a:t>Stiltes niet zichtbaar in de UI</a:t>
            </a:r>
            <a:endParaRPr lang="en-US" sz="1300" dirty="0"/>
          </a:p>
        </p:txBody>
      </p:sp>
      <p:sp>
        <p:nvSpPr>
          <p:cNvPr id="11" name="Text 9"/>
          <p:cNvSpPr txBox="1"/>
          <p:nvPr/>
        </p:nvSpPr>
        <p:spPr>
          <a:xfrm>
            <a:off x="4846320" y="2240280"/>
            <a:ext cx="548640" cy="566928"/>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486400" y="2240280"/>
            <a:ext cx="6126480" cy="566928"/>
          </a:xfrm>
          <a:prstGeom prst="roundRect">
            <a:avLst>
              <a:gd name="adj" fmla="val 19355"/>
            </a:avLst>
          </a:prstGeom>
          <a:solidFill>
            <a:srgbClr val="E3F4F2"/>
          </a:solidFill>
          <a:ln w="12700">
            <a:solidFill>
              <a:srgbClr val="E3F4F2"/>
            </a:solidFill>
            <a:prstDash val="solid"/>
          </a:ln>
        </p:spPr>
      </p:sp>
      <p:sp>
        <p:nvSpPr>
          <p:cNvPr id="13" name="Text 11"/>
          <p:cNvSpPr txBox="1"/>
          <p:nvPr/>
        </p:nvSpPr>
        <p:spPr>
          <a:xfrm>
            <a:off x="5715000" y="2240280"/>
            <a:ext cx="5760720" cy="5669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Persona-trace van Bram op /jury</a:t>
            </a:r>
            <a:endParaRPr lang="en-US" sz="1300" dirty="0"/>
          </a:p>
        </p:txBody>
      </p:sp>
      <p:sp>
        <p:nvSpPr>
          <p:cNvPr id="14" name="Shape 12"/>
          <p:cNvSpPr/>
          <p:nvPr/>
        </p:nvSpPr>
        <p:spPr>
          <a:xfrm>
            <a:off x="548640" y="2926080"/>
            <a:ext cx="4206240" cy="566928"/>
          </a:xfrm>
          <a:prstGeom prst="roundRect">
            <a:avLst>
              <a:gd name="adj" fmla="val 19355"/>
            </a:avLst>
          </a:prstGeom>
          <a:solidFill>
            <a:srgbClr val="FDECE9"/>
          </a:solidFill>
          <a:ln w="12700">
            <a:solidFill>
              <a:srgbClr val="FDECE9"/>
            </a:solidFill>
            <a:prstDash val="solid"/>
          </a:ln>
        </p:spPr>
      </p:sp>
      <p:sp>
        <p:nvSpPr>
          <p:cNvPr id="15" name="Text 13"/>
          <p:cNvSpPr txBox="1"/>
          <p:nvPr/>
        </p:nvSpPr>
        <p:spPr>
          <a:xfrm>
            <a:off x="777240" y="2926080"/>
            <a:ext cx="3840480" cy="566928"/>
          </a:xfrm>
          <a:prstGeom prst="rect">
            <a:avLst/>
          </a:prstGeom>
          <a:noFill/>
          <a:ln/>
        </p:spPr>
        <p:txBody>
          <a:bodyPr wrap="square" lIns="0" tIns="0" rIns="0" bIns="0" rtlCol="0" anchor="ctr"/>
          <a:lstStyle/>
          <a:p>
            <a:pPr indent="0" marL="0">
              <a:buNone/>
            </a:pPr>
            <a:r>
              <a:rPr lang="en-US" sz="1300" b="1" dirty="0">
                <a:solidFill>
                  <a:srgbClr val="B23A28"/>
                </a:solidFill>
                <a:latin typeface="Calibri" pitchFamily="34" charset="0"/>
                <a:ea typeface="Calibri" pitchFamily="34" charset="-122"/>
                <a:cs typeface="Calibri" pitchFamily="34" charset="-120"/>
              </a:rPr>
              <a:t>/demo werkt niet (geen admin of route-probleem)</a:t>
            </a:r>
            <a:endParaRPr lang="en-US" sz="1300" dirty="0"/>
          </a:p>
        </p:txBody>
      </p:sp>
      <p:sp>
        <p:nvSpPr>
          <p:cNvPr id="16" name="Text 14"/>
          <p:cNvSpPr txBox="1"/>
          <p:nvPr/>
        </p:nvSpPr>
        <p:spPr>
          <a:xfrm>
            <a:off x="4846320" y="2926080"/>
            <a:ext cx="548640" cy="566928"/>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486400" y="2926080"/>
            <a:ext cx="6126480" cy="566928"/>
          </a:xfrm>
          <a:prstGeom prst="roundRect">
            <a:avLst>
              <a:gd name="adj" fmla="val 19355"/>
            </a:avLst>
          </a:prstGeom>
          <a:solidFill>
            <a:srgbClr val="E3F4F2"/>
          </a:solidFill>
          <a:ln w="12700">
            <a:solidFill>
              <a:srgbClr val="E3F4F2"/>
            </a:solidFill>
            <a:prstDash val="solid"/>
          </a:ln>
        </p:spPr>
      </p:sp>
      <p:sp>
        <p:nvSpPr>
          <p:cNvPr id="18" name="Text 16"/>
          <p:cNvSpPr txBox="1"/>
          <p:nvPr/>
        </p:nvSpPr>
        <p:spPr>
          <a:xfrm>
            <a:off x="5715000" y="2926080"/>
            <a:ext cx="5760720" cy="5669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Check ADMIN_USERNAMES=jan, of curl naar POST /api/v1/admin/time-machine en home verversen</a:t>
            </a:r>
            <a:endParaRPr lang="en-US" sz="1300" dirty="0"/>
          </a:p>
        </p:txBody>
      </p:sp>
      <p:sp>
        <p:nvSpPr>
          <p:cNvPr id="19" name="Shape 17"/>
          <p:cNvSpPr/>
          <p:nvPr/>
        </p:nvSpPr>
        <p:spPr>
          <a:xfrm>
            <a:off x="548640" y="3611880"/>
            <a:ext cx="4206240" cy="566928"/>
          </a:xfrm>
          <a:prstGeom prst="roundRect">
            <a:avLst>
              <a:gd name="adj" fmla="val 19355"/>
            </a:avLst>
          </a:prstGeom>
          <a:solidFill>
            <a:srgbClr val="FDECE9"/>
          </a:solidFill>
          <a:ln w="12700">
            <a:solidFill>
              <a:srgbClr val="FDECE9"/>
            </a:solidFill>
            <a:prstDash val="solid"/>
          </a:ln>
        </p:spPr>
      </p:sp>
      <p:sp>
        <p:nvSpPr>
          <p:cNvPr id="20" name="Text 18"/>
          <p:cNvSpPr txBox="1"/>
          <p:nvPr/>
        </p:nvSpPr>
        <p:spPr>
          <a:xfrm>
            <a:off x="777240" y="3611880"/>
            <a:ext cx="3840480" cy="566928"/>
          </a:xfrm>
          <a:prstGeom prst="rect">
            <a:avLst/>
          </a:prstGeom>
          <a:noFill/>
          <a:ln/>
        </p:spPr>
        <p:txBody>
          <a:bodyPr wrap="square" lIns="0" tIns="0" rIns="0" bIns="0" rtlCol="0" anchor="ctr"/>
          <a:lstStyle/>
          <a:p>
            <a:pPr indent="0" marL="0">
              <a:buNone/>
            </a:pPr>
            <a:r>
              <a:rPr lang="en-US" sz="1300" b="1" dirty="0">
                <a:solidFill>
                  <a:srgbClr val="B23A28"/>
                </a:solidFill>
                <a:latin typeface="Calibri" pitchFamily="34" charset="0"/>
                <a:ea typeface="Calibri" pitchFamily="34" charset="-122"/>
                <a:cs typeface="Calibri" pitchFamily="34" charset="-120"/>
              </a:rPr>
              <a:t>Bevestig-knop op kaart</a:t>
            </a:r>
            <a:endParaRPr lang="en-US" sz="1300" dirty="0"/>
          </a:p>
        </p:txBody>
      </p:sp>
      <p:sp>
        <p:nvSpPr>
          <p:cNvPr id="21" name="Text 19"/>
          <p:cNvSpPr txBox="1"/>
          <p:nvPr/>
        </p:nvSpPr>
        <p:spPr>
          <a:xfrm>
            <a:off x="4846320" y="3611880"/>
            <a:ext cx="548640" cy="566928"/>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5486400" y="3611880"/>
            <a:ext cx="6126480" cy="566928"/>
          </a:xfrm>
          <a:prstGeom prst="roundRect">
            <a:avLst>
              <a:gd name="adj" fmla="val 19355"/>
            </a:avLst>
          </a:prstGeom>
          <a:solidFill>
            <a:srgbClr val="E3F4F2"/>
          </a:solidFill>
          <a:ln w="12700">
            <a:solidFill>
              <a:srgbClr val="E3F4F2"/>
            </a:solidFill>
            <a:prstDash val="solid"/>
          </a:ln>
        </p:spPr>
      </p:sp>
      <p:sp>
        <p:nvSpPr>
          <p:cNvPr id="23" name="Text 21"/>
          <p:cNvSpPr txBox="1"/>
          <p:nvPr/>
        </p:nvSpPr>
        <p:spPr>
          <a:xfrm>
            <a:off x="5715000" y="3611880"/>
            <a:ext cx="5760720" cy="5669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Scène 4 inkorten, of python scripts/skills_tour.py --persona sofie (#38) in een terminal</a:t>
            </a:r>
            <a:endParaRPr lang="en-US" sz="1300" dirty="0"/>
          </a:p>
        </p:txBody>
      </p:sp>
      <p:sp>
        <p:nvSpPr>
          <p:cNvPr id="24" name="Shape 22"/>
          <p:cNvSpPr/>
          <p:nvPr/>
        </p:nvSpPr>
        <p:spPr>
          <a:xfrm>
            <a:off x="548640" y="4297680"/>
            <a:ext cx="4206240" cy="566928"/>
          </a:xfrm>
          <a:prstGeom prst="roundRect">
            <a:avLst>
              <a:gd name="adj" fmla="val 19355"/>
            </a:avLst>
          </a:prstGeom>
          <a:solidFill>
            <a:srgbClr val="FDECE9"/>
          </a:solidFill>
          <a:ln w="12700">
            <a:solidFill>
              <a:srgbClr val="FDECE9"/>
            </a:solidFill>
            <a:prstDash val="solid"/>
          </a:ln>
        </p:spPr>
      </p:sp>
      <p:sp>
        <p:nvSpPr>
          <p:cNvPr id="25" name="Text 23"/>
          <p:cNvSpPr txBox="1"/>
          <p:nvPr/>
        </p:nvSpPr>
        <p:spPr>
          <a:xfrm>
            <a:off x="777240" y="4297680"/>
            <a:ext cx="3840480" cy="566928"/>
          </a:xfrm>
          <a:prstGeom prst="rect">
            <a:avLst/>
          </a:prstGeom>
          <a:noFill/>
          <a:ln/>
        </p:spPr>
        <p:txBody>
          <a:bodyPr wrap="square" lIns="0" tIns="0" rIns="0" bIns="0" rtlCol="0" anchor="ctr"/>
          <a:lstStyle/>
          <a:p>
            <a:pPr indent="0" marL="0">
              <a:buNone/>
            </a:pPr>
            <a:r>
              <a:rPr lang="en-US" sz="1300" b="1" dirty="0">
                <a:solidFill>
                  <a:srgbClr val="B23A28"/>
                </a:solidFill>
                <a:latin typeface="Calibri" pitchFamily="34" charset="0"/>
                <a:ea typeface="Calibri" pitchFamily="34" charset="-122"/>
                <a:cs typeface="Calibri" pitchFamily="34" charset="-120"/>
              </a:rPr>
              <a:t>Live overschrijving (4b) lukt niet</a:t>
            </a:r>
            <a:endParaRPr lang="en-US" sz="1300" dirty="0"/>
          </a:p>
        </p:txBody>
      </p:sp>
      <p:sp>
        <p:nvSpPr>
          <p:cNvPr id="26" name="Text 24"/>
          <p:cNvSpPr txBox="1"/>
          <p:nvPr/>
        </p:nvSpPr>
        <p:spPr>
          <a:xfrm>
            <a:off x="4846320" y="4297680"/>
            <a:ext cx="548640" cy="566928"/>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27" name="Shape 25"/>
          <p:cNvSpPr/>
          <p:nvPr/>
        </p:nvSpPr>
        <p:spPr>
          <a:xfrm>
            <a:off x="5486400" y="4297680"/>
            <a:ext cx="6126480" cy="566928"/>
          </a:xfrm>
          <a:prstGeom prst="roundRect">
            <a:avLst>
              <a:gd name="adj" fmla="val 19355"/>
            </a:avLst>
          </a:prstGeom>
          <a:solidFill>
            <a:srgbClr val="E3F4F2"/>
          </a:solidFill>
          <a:ln w="12700">
            <a:solidFill>
              <a:srgbClr val="E3F4F2"/>
            </a:solidFill>
            <a:prstDash val="solid"/>
          </a:ln>
        </p:spPr>
      </p:sp>
      <p:sp>
        <p:nvSpPr>
          <p:cNvPr id="28" name="Text 26"/>
          <p:cNvSpPr txBox="1"/>
          <p:nvPr/>
        </p:nvSpPr>
        <p:spPr>
          <a:xfrm>
            <a:off x="5715000" y="4297680"/>
            <a:ext cx="5760720" cy="5669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Bewijs D (schakelaar) of B (tijdmachine twee keer) volstaat ook</a:t>
            </a:r>
            <a:endParaRPr lang="en-US" sz="1300" dirty="0"/>
          </a:p>
        </p:txBody>
      </p:sp>
      <p:sp>
        <p:nvSpPr>
          <p:cNvPr id="29" name="Shape 27"/>
          <p:cNvSpPr/>
          <p:nvPr/>
        </p:nvSpPr>
        <p:spPr>
          <a:xfrm>
            <a:off x="548640" y="4983480"/>
            <a:ext cx="4206240" cy="566928"/>
          </a:xfrm>
          <a:prstGeom prst="roundRect">
            <a:avLst>
              <a:gd name="adj" fmla="val 19355"/>
            </a:avLst>
          </a:prstGeom>
          <a:solidFill>
            <a:srgbClr val="FDECE9"/>
          </a:solidFill>
          <a:ln w="12700">
            <a:solidFill>
              <a:srgbClr val="FDECE9"/>
            </a:solidFill>
            <a:prstDash val="solid"/>
          </a:ln>
        </p:spPr>
      </p:sp>
      <p:sp>
        <p:nvSpPr>
          <p:cNvPr id="30" name="Text 28"/>
          <p:cNvSpPr txBox="1"/>
          <p:nvPr/>
        </p:nvSpPr>
        <p:spPr>
          <a:xfrm>
            <a:off x="777240" y="4983480"/>
            <a:ext cx="3840480" cy="566928"/>
          </a:xfrm>
          <a:prstGeom prst="rect">
            <a:avLst/>
          </a:prstGeom>
          <a:noFill/>
          <a:ln/>
        </p:spPr>
        <p:txBody>
          <a:bodyPr wrap="square" lIns="0" tIns="0" rIns="0" bIns="0" rtlCol="0" anchor="ctr"/>
          <a:lstStyle/>
          <a:p>
            <a:pPr indent="0" marL="0">
              <a:buNone/>
            </a:pPr>
            <a:r>
              <a:rPr lang="en-US" sz="1300" b="1" dirty="0">
                <a:solidFill>
                  <a:srgbClr val="B23A28"/>
                </a:solidFill>
                <a:latin typeface="Calibri" pitchFamily="34" charset="0"/>
                <a:ea typeface="Calibri" pitchFamily="34" charset="-122"/>
                <a:cs typeface="Calibri" pitchFamily="34" charset="-120"/>
              </a:rPr>
              <a:t>Jury-dashboard</a:t>
            </a:r>
            <a:endParaRPr lang="en-US" sz="1300" dirty="0"/>
          </a:p>
        </p:txBody>
      </p:sp>
      <p:sp>
        <p:nvSpPr>
          <p:cNvPr id="31" name="Text 29"/>
          <p:cNvSpPr txBox="1"/>
          <p:nvPr/>
        </p:nvSpPr>
        <p:spPr>
          <a:xfrm>
            <a:off x="4846320" y="4983480"/>
            <a:ext cx="548640" cy="566928"/>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32" name="Shape 30"/>
          <p:cNvSpPr/>
          <p:nvPr/>
        </p:nvSpPr>
        <p:spPr>
          <a:xfrm>
            <a:off x="5486400" y="4983480"/>
            <a:ext cx="6126480" cy="566928"/>
          </a:xfrm>
          <a:prstGeom prst="roundRect">
            <a:avLst>
              <a:gd name="adj" fmla="val 19355"/>
            </a:avLst>
          </a:prstGeom>
          <a:solidFill>
            <a:srgbClr val="E3F4F2"/>
          </a:solidFill>
          <a:ln w="12700">
            <a:solidFill>
              <a:srgbClr val="E3F4F2"/>
            </a:solidFill>
            <a:prstDash val="solid"/>
          </a:ln>
        </p:spPr>
      </p:sp>
      <p:sp>
        <p:nvSpPr>
          <p:cNvPr id="33" name="Text 31"/>
          <p:cNvSpPr txBox="1"/>
          <p:nvPr/>
        </p:nvSpPr>
        <p:spPr>
          <a:xfrm>
            <a:off x="5715000" y="4983480"/>
            <a:ext cx="5760720" cy="5669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De benchmarkcijfers als slide</a:t>
            </a:r>
            <a:endParaRPr lang="en-US" sz="1300" dirty="0"/>
          </a:p>
        </p:txBody>
      </p:sp>
      <p:sp>
        <p:nvSpPr>
          <p:cNvPr id="34" name="Shape 32"/>
          <p:cNvSpPr/>
          <p:nvPr/>
        </p:nvSpPr>
        <p:spPr>
          <a:xfrm>
            <a:off x="548640" y="5669280"/>
            <a:ext cx="4206240" cy="566928"/>
          </a:xfrm>
          <a:prstGeom prst="roundRect">
            <a:avLst>
              <a:gd name="adj" fmla="val 19355"/>
            </a:avLst>
          </a:prstGeom>
          <a:solidFill>
            <a:srgbClr val="FDECE9"/>
          </a:solidFill>
          <a:ln w="12700">
            <a:solidFill>
              <a:srgbClr val="FDECE9"/>
            </a:solidFill>
            <a:prstDash val="solid"/>
          </a:ln>
        </p:spPr>
      </p:sp>
      <p:sp>
        <p:nvSpPr>
          <p:cNvPr id="35" name="Text 33"/>
          <p:cNvSpPr txBox="1"/>
          <p:nvPr/>
        </p:nvSpPr>
        <p:spPr>
          <a:xfrm>
            <a:off x="777240" y="5669280"/>
            <a:ext cx="3840480" cy="566928"/>
          </a:xfrm>
          <a:prstGeom prst="rect">
            <a:avLst/>
          </a:prstGeom>
          <a:noFill/>
          <a:ln/>
        </p:spPr>
        <p:txBody>
          <a:bodyPr wrap="square" lIns="0" tIns="0" rIns="0" bIns="0" rtlCol="0" anchor="ctr"/>
          <a:lstStyle/>
          <a:p>
            <a:pPr indent="0" marL="0">
              <a:buNone/>
            </a:pPr>
            <a:r>
              <a:rPr lang="en-US" sz="1300" b="1" dirty="0">
                <a:solidFill>
                  <a:srgbClr val="B23A28"/>
                </a:solidFill>
                <a:latin typeface="Calibri" pitchFamily="34" charset="0"/>
                <a:ea typeface="Calibri" pitchFamily="34" charset="-122"/>
                <a:cs typeface="Calibri" pitchFamily="34" charset="-120"/>
              </a:rPr>
              <a:t>API-sleutels werken niet</a:t>
            </a:r>
            <a:endParaRPr lang="en-US" sz="1300" dirty="0"/>
          </a:p>
        </p:txBody>
      </p:sp>
      <p:sp>
        <p:nvSpPr>
          <p:cNvPr id="36" name="Text 34"/>
          <p:cNvSpPr txBox="1"/>
          <p:nvPr/>
        </p:nvSpPr>
        <p:spPr>
          <a:xfrm>
            <a:off x="4846320" y="5669280"/>
            <a:ext cx="548640" cy="566928"/>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37" name="Shape 35"/>
          <p:cNvSpPr/>
          <p:nvPr/>
        </p:nvSpPr>
        <p:spPr>
          <a:xfrm>
            <a:off x="5486400" y="5669280"/>
            <a:ext cx="6126480" cy="566928"/>
          </a:xfrm>
          <a:prstGeom prst="roundRect">
            <a:avLst>
              <a:gd name="adj" fmla="val 19355"/>
            </a:avLst>
          </a:prstGeom>
          <a:solidFill>
            <a:srgbClr val="E3F4F2"/>
          </a:solidFill>
          <a:ln w="12700">
            <a:solidFill>
              <a:srgbClr val="E3F4F2"/>
            </a:solidFill>
            <a:prstDash val="solid"/>
          </a:ln>
        </p:spPr>
      </p:sp>
      <p:sp>
        <p:nvSpPr>
          <p:cNvPr id="38" name="Text 36"/>
          <p:cNvSpPr txBox="1"/>
          <p:nvPr/>
        </p:nvSpPr>
        <p:spPr>
          <a:xfrm>
            <a:off x="5715000" y="5669280"/>
            <a:ext cx="5760720" cy="5669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Demomodus: browserstem en vaste antwoorden. Scène 6 werkt nog, klinkt minder goed</a:t>
            </a:r>
            <a:endParaRPr lang="en-US" sz="1300" dirty="0"/>
          </a:p>
        </p:txBody>
      </p:sp>
      <p:sp>
        <p:nvSpPr>
          <p:cNvPr id="39" name="Text 37"/>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t"/>
          <a:lstStyle/>
          <a:p>
            <a:pPr indent="0" marL="0">
              <a:buNone/>
            </a:pPr>
            <a:r>
              <a:rPr lang="en-US" sz="3400" b="1" dirty="0">
                <a:solidFill>
                  <a:srgbClr val="10263F"/>
                </a:solidFill>
                <a:latin typeface="Cambria" pitchFamily="34" charset="0"/>
                <a:ea typeface="Cambria" pitchFamily="34" charset="-122"/>
                <a:cs typeface="Cambria" pitchFamily="34" charset="-120"/>
              </a:rPr>
              <a:t>Checklist vlak voor de opname</a:t>
            </a:r>
            <a:endParaRPr lang="en-US" sz="3400" dirty="0"/>
          </a:p>
        </p:txBody>
      </p:sp>
      <p:sp>
        <p:nvSpPr>
          <p:cNvPr id="3" name="Shape 1"/>
          <p:cNvSpPr/>
          <p:nvPr/>
        </p:nvSpPr>
        <p:spPr>
          <a:xfrm>
            <a:off x="548640" y="1417320"/>
            <a:ext cx="5440680" cy="1005840"/>
          </a:xfrm>
          <a:prstGeom prst="roundRect">
            <a:avLst>
              <a:gd name="adj" fmla="val 10909"/>
            </a:avLst>
          </a:prstGeom>
          <a:solidFill>
            <a:srgbClr val="F3F5F8"/>
          </a:solidFill>
          <a:ln w="12700">
            <a:solidFill>
              <a:srgbClr val="F3F5F8"/>
            </a:solidFill>
            <a:prstDash val="solid"/>
          </a:ln>
        </p:spPr>
      </p:sp>
      <p:sp>
        <p:nvSpPr>
          <p:cNvPr id="4" name="Shape 2"/>
          <p:cNvSpPr/>
          <p:nvPr/>
        </p:nvSpPr>
        <p:spPr>
          <a:xfrm>
            <a:off x="822960" y="1709928"/>
            <a:ext cx="411480" cy="411480"/>
          </a:xfrm>
          <a:prstGeom prst="roundRect">
            <a:avLst>
              <a:gd name="adj" fmla="val 13333"/>
            </a:avLst>
          </a:prstGeom>
          <a:solidFill>
            <a:srgbClr val="FFFFFF"/>
          </a:solidFill>
          <a:ln w="25400">
            <a:solidFill>
              <a:srgbClr val="0E9F8E"/>
            </a:solidFill>
            <a:prstDash val="solid"/>
          </a:ln>
        </p:spPr>
      </p:sp>
      <p:sp>
        <p:nvSpPr>
          <p:cNvPr id="5" name="Text 3"/>
          <p:cNvSpPr txBox="1"/>
          <p:nvPr/>
        </p:nvSpPr>
        <p:spPr>
          <a:xfrm>
            <a:off x="1463040" y="1417320"/>
            <a:ext cx="4343400" cy="10058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Laatste main getrokken (git pull) en app herstart</a:t>
            </a:r>
            <a:endParaRPr lang="en-US" sz="1450" dirty="0"/>
          </a:p>
        </p:txBody>
      </p:sp>
      <p:sp>
        <p:nvSpPr>
          <p:cNvPr id="6" name="Shape 4"/>
          <p:cNvSpPr/>
          <p:nvPr/>
        </p:nvSpPr>
        <p:spPr>
          <a:xfrm>
            <a:off x="548640" y="2606040"/>
            <a:ext cx="5440680" cy="1005840"/>
          </a:xfrm>
          <a:prstGeom prst="roundRect">
            <a:avLst>
              <a:gd name="adj" fmla="val 10909"/>
            </a:avLst>
          </a:prstGeom>
          <a:solidFill>
            <a:srgbClr val="F3F5F8"/>
          </a:solidFill>
          <a:ln w="12700">
            <a:solidFill>
              <a:srgbClr val="F3F5F8"/>
            </a:solidFill>
            <a:prstDash val="solid"/>
          </a:ln>
        </p:spPr>
      </p:sp>
      <p:sp>
        <p:nvSpPr>
          <p:cNvPr id="7" name="Shape 5"/>
          <p:cNvSpPr/>
          <p:nvPr/>
        </p:nvSpPr>
        <p:spPr>
          <a:xfrm>
            <a:off x="822960" y="2898648"/>
            <a:ext cx="411480" cy="411480"/>
          </a:xfrm>
          <a:prstGeom prst="roundRect">
            <a:avLst>
              <a:gd name="adj" fmla="val 13333"/>
            </a:avLst>
          </a:prstGeom>
          <a:solidFill>
            <a:srgbClr val="FFFFFF"/>
          </a:solidFill>
          <a:ln w="25400">
            <a:solidFill>
              <a:srgbClr val="0E9F8E"/>
            </a:solidFill>
            <a:prstDash val="solid"/>
          </a:ln>
        </p:spPr>
      </p:sp>
      <p:sp>
        <p:nvSpPr>
          <p:cNvPr id="8" name="Text 6"/>
          <p:cNvSpPr txBox="1"/>
          <p:nvPr/>
        </p:nvSpPr>
        <p:spPr>
          <a:xfrm>
            <a:off x="1463040" y="2606040"/>
            <a:ext cx="4343400" cy="10058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ADMIN_USERNAMES=jan, PASSWORDLESS_LOGIN=true, ingelogd als jan voor /demo en /jury</a:t>
            </a:r>
            <a:endParaRPr lang="en-US" sz="1450" dirty="0"/>
          </a:p>
        </p:txBody>
      </p:sp>
      <p:sp>
        <p:nvSpPr>
          <p:cNvPr id="9" name="Shape 7"/>
          <p:cNvSpPr/>
          <p:nvPr/>
        </p:nvSpPr>
        <p:spPr>
          <a:xfrm>
            <a:off x="548640" y="3794760"/>
            <a:ext cx="5440680" cy="1005840"/>
          </a:xfrm>
          <a:prstGeom prst="roundRect">
            <a:avLst>
              <a:gd name="adj" fmla="val 10909"/>
            </a:avLst>
          </a:prstGeom>
          <a:solidFill>
            <a:srgbClr val="F3F5F8"/>
          </a:solidFill>
          <a:ln w="12700">
            <a:solidFill>
              <a:srgbClr val="F3F5F8"/>
            </a:solidFill>
            <a:prstDash val="solid"/>
          </a:ln>
        </p:spPr>
      </p:sp>
      <p:sp>
        <p:nvSpPr>
          <p:cNvPr id="10" name="Shape 8"/>
          <p:cNvSpPr/>
          <p:nvPr/>
        </p:nvSpPr>
        <p:spPr>
          <a:xfrm>
            <a:off x="822960" y="4087368"/>
            <a:ext cx="411480" cy="411480"/>
          </a:xfrm>
          <a:prstGeom prst="roundRect">
            <a:avLst>
              <a:gd name="adj" fmla="val 13333"/>
            </a:avLst>
          </a:prstGeom>
          <a:solidFill>
            <a:srgbClr val="FFFFFF"/>
          </a:solidFill>
          <a:ln w="25400">
            <a:solidFill>
              <a:srgbClr val="0E9F8E"/>
            </a:solidFill>
            <a:prstDash val="solid"/>
          </a:ln>
        </p:spPr>
      </p:sp>
      <p:sp>
        <p:nvSpPr>
          <p:cNvPr id="11" name="Text 9"/>
          <p:cNvSpPr txBox="1"/>
          <p:nvPr/>
        </p:nvSpPr>
        <p:spPr>
          <a:xfrm>
            <a:off x="1463040" y="3794760"/>
            <a:ext cx="4343400" cy="10058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Tijdmachine getest: opent /demo nog de knoppen, of de twee telefoons? (#76)</a:t>
            </a:r>
            <a:endParaRPr lang="en-US" sz="1450" dirty="0"/>
          </a:p>
        </p:txBody>
      </p:sp>
      <p:sp>
        <p:nvSpPr>
          <p:cNvPr id="12" name="Shape 10"/>
          <p:cNvSpPr/>
          <p:nvPr/>
        </p:nvSpPr>
        <p:spPr>
          <a:xfrm>
            <a:off x="548640" y="4983480"/>
            <a:ext cx="5440680" cy="1005840"/>
          </a:xfrm>
          <a:prstGeom prst="roundRect">
            <a:avLst>
              <a:gd name="adj" fmla="val 10909"/>
            </a:avLst>
          </a:prstGeom>
          <a:solidFill>
            <a:srgbClr val="F3F5F8"/>
          </a:solidFill>
          <a:ln w="12700">
            <a:solidFill>
              <a:srgbClr val="F3F5F8"/>
            </a:solidFill>
            <a:prstDash val="solid"/>
          </a:ln>
        </p:spPr>
      </p:sp>
      <p:sp>
        <p:nvSpPr>
          <p:cNvPr id="13" name="Shape 11"/>
          <p:cNvSpPr/>
          <p:nvPr/>
        </p:nvSpPr>
        <p:spPr>
          <a:xfrm>
            <a:off x="822960" y="5276088"/>
            <a:ext cx="411480" cy="411480"/>
          </a:xfrm>
          <a:prstGeom prst="roundRect">
            <a:avLst>
              <a:gd name="adj" fmla="val 13333"/>
            </a:avLst>
          </a:prstGeom>
          <a:solidFill>
            <a:srgbClr val="FFFFFF"/>
          </a:solidFill>
          <a:ln w="25400">
            <a:solidFill>
              <a:srgbClr val="0E9F8E"/>
            </a:solidFill>
            <a:prstDash val="solid"/>
          </a:ln>
        </p:spPr>
      </p:sp>
      <p:sp>
        <p:nvSpPr>
          <p:cNvPr id="14" name="Text 12"/>
          <p:cNvSpPr txBox="1"/>
          <p:nvPr/>
        </p:nvSpPr>
        <p:spPr>
          <a:xfrm>
            <a:off x="1463040" y="4983480"/>
            <a:ext cx="4343400" cy="10058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Sleutels gecontroleerd met check_kate_keys, of bewust demomodus</a:t>
            </a:r>
            <a:endParaRPr lang="en-US" sz="1450" dirty="0"/>
          </a:p>
        </p:txBody>
      </p:sp>
      <p:sp>
        <p:nvSpPr>
          <p:cNvPr id="15" name="Shape 13"/>
          <p:cNvSpPr/>
          <p:nvPr/>
        </p:nvSpPr>
        <p:spPr>
          <a:xfrm>
            <a:off x="6172200" y="1417320"/>
            <a:ext cx="5440680" cy="1005840"/>
          </a:xfrm>
          <a:prstGeom prst="roundRect">
            <a:avLst>
              <a:gd name="adj" fmla="val 10909"/>
            </a:avLst>
          </a:prstGeom>
          <a:solidFill>
            <a:srgbClr val="F3F5F8"/>
          </a:solidFill>
          <a:ln w="12700">
            <a:solidFill>
              <a:srgbClr val="F3F5F8"/>
            </a:solidFill>
            <a:prstDash val="solid"/>
          </a:ln>
        </p:spPr>
      </p:sp>
      <p:sp>
        <p:nvSpPr>
          <p:cNvPr id="16" name="Shape 14"/>
          <p:cNvSpPr/>
          <p:nvPr/>
        </p:nvSpPr>
        <p:spPr>
          <a:xfrm>
            <a:off x="6446520" y="1709928"/>
            <a:ext cx="411480" cy="411480"/>
          </a:xfrm>
          <a:prstGeom prst="roundRect">
            <a:avLst>
              <a:gd name="adj" fmla="val 13333"/>
            </a:avLst>
          </a:prstGeom>
          <a:solidFill>
            <a:srgbClr val="FFFFFF"/>
          </a:solidFill>
          <a:ln w="25400">
            <a:solidFill>
              <a:srgbClr val="0E9F8E"/>
            </a:solidFill>
            <a:prstDash val="solid"/>
          </a:ln>
        </p:spPr>
      </p:sp>
      <p:sp>
        <p:nvSpPr>
          <p:cNvPr id="17" name="Text 15"/>
          <p:cNvSpPr txBox="1"/>
          <p:nvPr/>
        </p:nvSpPr>
        <p:spPr>
          <a:xfrm>
            <a:off x="7086600" y="1417320"/>
            <a:ext cx="4343400" cy="10058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Verse server per opname (zeker 3 en 4b)</a:t>
            </a:r>
            <a:endParaRPr lang="en-US" sz="1450" dirty="0"/>
          </a:p>
        </p:txBody>
      </p:sp>
      <p:sp>
        <p:nvSpPr>
          <p:cNvPr id="18" name="Shape 16"/>
          <p:cNvSpPr/>
          <p:nvPr/>
        </p:nvSpPr>
        <p:spPr>
          <a:xfrm>
            <a:off x="6172200" y="2606040"/>
            <a:ext cx="5440680" cy="1005840"/>
          </a:xfrm>
          <a:prstGeom prst="roundRect">
            <a:avLst>
              <a:gd name="adj" fmla="val 10909"/>
            </a:avLst>
          </a:prstGeom>
          <a:solidFill>
            <a:srgbClr val="F3F5F8"/>
          </a:solidFill>
          <a:ln w="12700">
            <a:solidFill>
              <a:srgbClr val="F3F5F8"/>
            </a:solidFill>
            <a:prstDash val="solid"/>
          </a:ln>
        </p:spPr>
      </p:sp>
      <p:sp>
        <p:nvSpPr>
          <p:cNvPr id="19" name="Shape 17"/>
          <p:cNvSpPr/>
          <p:nvPr/>
        </p:nvSpPr>
        <p:spPr>
          <a:xfrm>
            <a:off x="6446520" y="2898648"/>
            <a:ext cx="411480" cy="411480"/>
          </a:xfrm>
          <a:prstGeom prst="roundRect">
            <a:avLst>
              <a:gd name="adj" fmla="val 13333"/>
            </a:avLst>
          </a:prstGeom>
          <a:solidFill>
            <a:srgbClr val="FFFFFF"/>
          </a:solidFill>
          <a:ln w="25400">
            <a:solidFill>
              <a:srgbClr val="0E9F8E"/>
            </a:solidFill>
            <a:prstDash val="solid"/>
          </a:ln>
        </p:spPr>
      </p:sp>
      <p:sp>
        <p:nvSpPr>
          <p:cNvPr id="20" name="Text 18"/>
          <p:cNvSpPr txBox="1"/>
          <p:nvPr/>
        </p:nvSpPr>
        <p:spPr>
          <a:xfrm>
            <a:off x="7086600" y="2606040"/>
            <a:ext cx="4343400" cy="10058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Cijfers van /jury afgelezen en voice-over van scène 7 aangepast</a:t>
            </a:r>
            <a:endParaRPr lang="en-US" sz="1450" dirty="0"/>
          </a:p>
        </p:txBody>
      </p:sp>
      <p:sp>
        <p:nvSpPr>
          <p:cNvPr id="21" name="Shape 19"/>
          <p:cNvSpPr/>
          <p:nvPr/>
        </p:nvSpPr>
        <p:spPr>
          <a:xfrm>
            <a:off x="6172200" y="3794760"/>
            <a:ext cx="5440680" cy="1005840"/>
          </a:xfrm>
          <a:prstGeom prst="roundRect">
            <a:avLst>
              <a:gd name="adj" fmla="val 10909"/>
            </a:avLst>
          </a:prstGeom>
          <a:solidFill>
            <a:srgbClr val="F3F5F8"/>
          </a:solidFill>
          <a:ln w="12700">
            <a:solidFill>
              <a:srgbClr val="F3F5F8"/>
            </a:solidFill>
            <a:prstDash val="solid"/>
          </a:ln>
        </p:spPr>
      </p:sp>
      <p:sp>
        <p:nvSpPr>
          <p:cNvPr id="22" name="Shape 20"/>
          <p:cNvSpPr/>
          <p:nvPr/>
        </p:nvSpPr>
        <p:spPr>
          <a:xfrm>
            <a:off x="6446520" y="4087368"/>
            <a:ext cx="411480" cy="411480"/>
          </a:xfrm>
          <a:prstGeom prst="roundRect">
            <a:avLst>
              <a:gd name="adj" fmla="val 13333"/>
            </a:avLst>
          </a:prstGeom>
          <a:solidFill>
            <a:srgbClr val="FFFFFF"/>
          </a:solidFill>
          <a:ln w="25400">
            <a:solidFill>
              <a:srgbClr val="0E9F8E"/>
            </a:solidFill>
            <a:prstDash val="solid"/>
          </a:ln>
        </p:spPr>
      </p:sp>
      <p:sp>
        <p:nvSpPr>
          <p:cNvPr id="23" name="Text 21"/>
          <p:cNvSpPr txBox="1"/>
          <p:nvPr/>
        </p:nvSpPr>
        <p:spPr>
          <a:xfrm>
            <a:off x="7086600" y="3794760"/>
            <a:ext cx="4343400" cy="10058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Microfoon getest voor scène 6 (spraak)</a:t>
            </a:r>
            <a:endParaRPr lang="en-US" sz="1450" dirty="0"/>
          </a:p>
        </p:txBody>
      </p:sp>
      <p:sp>
        <p:nvSpPr>
          <p:cNvPr id="24" name="Shape 22"/>
          <p:cNvSpPr/>
          <p:nvPr/>
        </p:nvSpPr>
        <p:spPr>
          <a:xfrm>
            <a:off x="6172200" y="4983480"/>
            <a:ext cx="5440680" cy="1005840"/>
          </a:xfrm>
          <a:prstGeom prst="roundRect">
            <a:avLst>
              <a:gd name="adj" fmla="val 10909"/>
            </a:avLst>
          </a:prstGeom>
          <a:solidFill>
            <a:srgbClr val="F3F5F8"/>
          </a:solidFill>
          <a:ln w="12700">
            <a:solidFill>
              <a:srgbClr val="F3F5F8"/>
            </a:solidFill>
            <a:prstDash val="solid"/>
          </a:ln>
        </p:spPr>
      </p:sp>
      <p:sp>
        <p:nvSpPr>
          <p:cNvPr id="25" name="Shape 23"/>
          <p:cNvSpPr/>
          <p:nvPr/>
        </p:nvSpPr>
        <p:spPr>
          <a:xfrm>
            <a:off x="6446520" y="5276088"/>
            <a:ext cx="411480" cy="411480"/>
          </a:xfrm>
          <a:prstGeom prst="roundRect">
            <a:avLst>
              <a:gd name="adj" fmla="val 13333"/>
            </a:avLst>
          </a:prstGeom>
          <a:solidFill>
            <a:srgbClr val="FFFFFF"/>
          </a:solidFill>
          <a:ln w="25400">
            <a:solidFill>
              <a:srgbClr val="0E9F8E"/>
            </a:solidFill>
            <a:prstDash val="solid"/>
          </a:ln>
        </p:spPr>
      </p:sp>
      <p:sp>
        <p:nvSpPr>
          <p:cNvPr id="26" name="Text 24"/>
          <p:cNvSpPr txBox="1"/>
          <p:nvPr/>
        </p:nvSpPr>
        <p:spPr>
          <a:xfrm>
            <a:off x="7086600" y="4983480"/>
            <a:ext cx="4343400" cy="10058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Aikido-screenshot "na" klaar (#55), meldingen uit, geen privé-tabbladen</a:t>
            </a:r>
            <a:endParaRPr lang="en-US" sz="1450" dirty="0"/>
          </a:p>
        </p:txBody>
      </p:sp>
      <p:sp>
        <p:nvSpPr>
          <p:cNvPr id="27" name="Text 25"/>
          <p:cNvSpPr txBox="1"/>
          <p:nvPr/>
        </p:nvSpPr>
        <p:spPr>
          <a:xfrm>
            <a:off x="548640" y="6446520"/>
            <a:ext cx="11064240"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Kate 2.0 · demoscript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263F"/>
        </a:solidFill>
      </p:bgPr>
    </p:bg>
    <p:spTree>
      <p:nvGrpSpPr>
        <p:cNvPr id="1" name=""/>
        <p:cNvGrpSpPr/>
        <p:nvPr/>
      </p:nvGrpSpPr>
      <p:grpSpPr>
        <a:xfrm>
          <a:off x="0" y="0"/>
          <a:ext cx="0" cy="0"/>
          <a:chOff x="0" y="0"/>
          <a:chExt cx="0" cy="0"/>
        </a:xfrm>
      </p:grpSpPr>
      <p:sp>
        <p:nvSpPr>
          <p:cNvPr id="2" name="Text 0"/>
          <p:cNvSpPr txBox="1"/>
          <p:nvPr/>
        </p:nvSpPr>
        <p:spPr>
          <a:xfrm>
            <a:off x="731520" y="2011680"/>
            <a:ext cx="105156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Klaar om op te nemen?</a:t>
            </a:r>
            <a:endParaRPr lang="en-US" sz="4800" dirty="0"/>
          </a:p>
        </p:txBody>
      </p:sp>
      <p:sp>
        <p:nvSpPr>
          <p:cNvPr id="3" name="Text 1"/>
          <p:cNvSpPr txBox="1"/>
          <p:nvPr/>
        </p:nvSpPr>
        <p:spPr>
          <a:xfrm>
            <a:off x="731520" y="3108960"/>
            <a:ext cx="10058400" cy="822960"/>
          </a:xfrm>
          <a:prstGeom prst="rect">
            <a:avLst/>
          </a:prstGeom>
          <a:noFill/>
          <a:ln/>
        </p:spPr>
        <p:txBody>
          <a:bodyPr wrap="square" lIns="0" tIns="0" rIns="0" bIns="0" rtlCol="0" anchor="t"/>
          <a:lstStyle/>
          <a:p>
            <a:pPr indent="0" marL="0">
              <a:buNone/>
            </a:pPr>
            <a:r>
              <a:rPr lang="en-US" sz="2000" dirty="0">
                <a:solidFill>
                  <a:srgbClr val="CFE3F0"/>
                </a:solidFill>
                <a:latin typeface="Calibri" pitchFamily="34" charset="0"/>
                <a:ea typeface="Calibri" pitchFamily="34" charset="-122"/>
                <a:cs typeface="Calibri" pitchFamily="34" charset="-120"/>
              </a:rPr>
              <a:t>De voice-over per scène staat ook in de sprekersnotities van elke scène-slide.</a:t>
            </a:r>
            <a:endParaRPr lang="en-US" sz="2000" dirty="0"/>
          </a:p>
        </p:txBody>
      </p:sp>
      <p:sp>
        <p:nvSpPr>
          <p:cNvPr id="4" name="Text 2"/>
          <p:cNvSpPr txBox="1"/>
          <p:nvPr/>
        </p:nvSpPr>
        <p:spPr>
          <a:xfrm>
            <a:off x="731520" y="5943600"/>
            <a:ext cx="10058400" cy="365760"/>
          </a:xfrm>
          <a:prstGeom prst="rect">
            <a:avLst/>
          </a:prstGeom>
          <a:noFill/>
          <a:ln/>
        </p:spPr>
        <p:txBody>
          <a:bodyPr wrap="square" lIns="0" tIns="0" rIns="0" bIns="0" rtlCol="0" anchor="t"/>
          <a:lstStyle/>
          <a:p>
            <a:pPr indent="0" marL="0">
              <a:buNone/>
            </a:pPr>
            <a:r>
              <a:rPr lang="en-US" sz="1300" dirty="0">
                <a:solidFill>
                  <a:srgbClr val="8FA6BD"/>
                </a:solidFill>
                <a:latin typeface="Calibri" pitchFamily="34" charset="0"/>
                <a:ea typeface="Calibri" pitchFamily="34" charset="-122"/>
                <a:cs typeface="Calibri" pitchFamily="34" charset="-120"/>
              </a:rPr>
              <a:t>Bron: docs/demo-script.md op main · eigenaar Alexandre (#42)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 – Kate 2.0 (video &lt; 3 min)</dc:title>
  <dc:subject>PptxGenJS Presentation</dc:subject>
  <dc:creator>PptxGenJS</dc:creator>
  <cp:lastModifiedBy>PptxGenJS</cp:lastModifiedBy>
  <cp:revision>1</cp:revision>
  <dcterms:created xsi:type="dcterms:W3CDTF">2026-09-30T20:14:54Z</dcterms:created>
  <dcterms:modified xsi:type="dcterms:W3CDTF">2026-09-30T20:14:54Z</dcterms:modified>
</cp:coreProperties>
</file>